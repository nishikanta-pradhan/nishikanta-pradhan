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eb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8"/>
  </p:notesMasterIdLst>
  <p:sldIdLst>
    <p:sldId id="256" r:id="rId2"/>
    <p:sldId id="280" r:id="rId3"/>
    <p:sldId id="295" r:id="rId4"/>
    <p:sldId id="299" r:id="rId5"/>
    <p:sldId id="301" r:id="rId6"/>
    <p:sldId id="302" r:id="rId7"/>
    <p:sldId id="300" r:id="rId8"/>
    <p:sldId id="298" r:id="rId9"/>
    <p:sldId id="279" r:id="rId10"/>
    <p:sldId id="281" r:id="rId11"/>
    <p:sldId id="296" r:id="rId12"/>
    <p:sldId id="282" r:id="rId13"/>
    <p:sldId id="303" r:id="rId14"/>
    <p:sldId id="283" r:id="rId15"/>
    <p:sldId id="284" r:id="rId16"/>
    <p:sldId id="285" r:id="rId17"/>
    <p:sldId id="287" r:id="rId18"/>
    <p:sldId id="286" r:id="rId19"/>
    <p:sldId id="288" r:id="rId20"/>
    <p:sldId id="289" r:id="rId21"/>
    <p:sldId id="290" r:id="rId22"/>
    <p:sldId id="291" r:id="rId23"/>
    <p:sldId id="292" r:id="rId24"/>
    <p:sldId id="293" r:id="rId25"/>
    <p:sldId id="294" r:id="rId26"/>
    <p:sldId id="278" r:id="rId27"/>
  </p:sldIdLst>
  <p:sldSz cx="9144000" cy="5143500" type="screen16x9"/>
  <p:notesSz cx="6858000" cy="9144000"/>
  <p:embeddedFontLst>
    <p:embeddedFont>
      <p:font typeface="Arial Black" panose="020B0A04020102020204" pitchFamily="34" charset="0"/>
      <p:bold r:id="rId29"/>
    </p:embeddedFont>
    <p:embeddedFont>
      <p:font typeface="Gabriola" panose="04040605051002020D02" pitchFamily="82" charset="0"/>
      <p:regular r:id="rId30"/>
    </p:embeddedFont>
    <p:embeddedFont>
      <p:font typeface="Oswald" panose="00000500000000000000" pitchFamily="2" charset="0"/>
      <p:regular r:id="rId31"/>
      <p:bold r:id="rId32"/>
    </p:embeddedFont>
    <p:embeddedFont>
      <p:font typeface="Source Sans Pro" panose="020B0503030403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1A1956-3D7E-41C0-9DF7-105A978C6925}">
  <a:tblStyle styleId="{891A1956-3D7E-41C0-9DF7-105A978C6925}"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2E05BE-877C-40BA-BEE6-E4ECDAF45F9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p:cViewPr varScale="1">
        <p:scale>
          <a:sx n="90" d="100"/>
          <a:sy n="90" d="100"/>
        </p:scale>
        <p:origin x="798" y="8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2392832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538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70927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980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33"/>
        <p:cNvGrpSpPr/>
        <p:nvPr/>
      </p:nvGrpSpPr>
      <p:grpSpPr>
        <a:xfrm>
          <a:off x="0" y="0"/>
          <a:ext cx="0" cy="0"/>
          <a:chOff x="0" y="0"/>
          <a:chExt cx="0" cy="0"/>
        </a:xfrm>
      </p:grpSpPr>
      <p:sp>
        <p:nvSpPr>
          <p:cNvPr id="34" name="Google Shape;34;p2"/>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35" name="Google Shape;35;p2"/>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sp>
      <p:sp>
        <p:nvSpPr>
          <p:cNvPr id="36" name="Google Shape;36;p2"/>
          <p:cNvSpPr/>
          <p:nvPr/>
        </p:nvSpPr>
        <p:spPr>
          <a:xfrm rot="8100000">
            <a:off x="1847981" y="1814569"/>
            <a:ext cx="122612" cy="122612"/>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8100000">
            <a:off x="6038981" y="2098419"/>
            <a:ext cx="122612" cy="122612"/>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8100000">
            <a:off x="7181981" y="2131769"/>
            <a:ext cx="122612" cy="122612"/>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2"/>
          <p:cNvGrpSpPr/>
          <p:nvPr/>
        </p:nvGrpSpPr>
        <p:grpSpPr>
          <a:xfrm>
            <a:off x="-9525" y="2024075"/>
            <a:ext cx="9167825" cy="595300"/>
            <a:chOff x="-9525" y="4462475"/>
            <a:chExt cx="9167825" cy="595300"/>
          </a:xfrm>
        </p:grpSpPr>
        <p:sp>
          <p:nvSpPr>
            <p:cNvPr id="40" name="Google Shape;40;p2"/>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med" len="med"/>
              <a:tailEnd type="none" w="med" len="med"/>
            </a:ln>
          </p:spPr>
        </p:sp>
        <p:sp>
          <p:nvSpPr>
            <p:cNvPr id="41" name="Google Shape;41;p2"/>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med" len="med"/>
              <a:tailEnd type="none" w="med" len="med"/>
            </a:ln>
          </p:spPr>
        </p:sp>
        <p:sp>
          <p:nvSpPr>
            <p:cNvPr id="42" name="Google Shape;42;p2"/>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med" len="med"/>
              <a:tailEnd type="none" w="med" len="med"/>
            </a:ln>
          </p:spPr>
        </p:sp>
      </p:grpSp>
      <p:grpSp>
        <p:nvGrpSpPr>
          <p:cNvPr id="43" name="Google Shape;43;p2"/>
          <p:cNvGrpSpPr/>
          <p:nvPr/>
        </p:nvGrpSpPr>
        <p:grpSpPr>
          <a:xfrm>
            <a:off x="-42837" y="2005088"/>
            <a:ext cx="9229575" cy="642787"/>
            <a:chOff x="-42837" y="4443488"/>
            <a:chExt cx="9229575" cy="642787"/>
          </a:xfrm>
        </p:grpSpPr>
        <p:sp>
          <p:nvSpPr>
            <p:cNvPr id="44" name="Google Shape;44;p2"/>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2"/>
          <p:cNvSpPr/>
          <p:nvPr/>
        </p:nvSpPr>
        <p:spPr>
          <a:xfrm>
            <a:off x="2990700" y="214780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085700" y="243355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4895700" y="2077632"/>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8100000">
            <a:off x="8699949" y="1890769"/>
            <a:ext cx="122612" cy="122612"/>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txBox="1">
            <a:spLocks noGrp="1"/>
          </p:cNvSpPr>
          <p:nvPr>
            <p:ph type="ctrTitle"/>
          </p:nvPr>
        </p:nvSpPr>
        <p:spPr>
          <a:xfrm>
            <a:off x="2847975" y="3363425"/>
            <a:ext cx="56103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rgbClr val="FFFFFF"/>
              </a:buClr>
              <a:buSzPts val="4800"/>
              <a:buNone/>
              <a:defRPr sz="4800">
                <a:solidFill>
                  <a:srgbClr val="FFFFFF"/>
                </a:solidFill>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6"/>
        <p:cNvGrpSpPr/>
        <p:nvPr/>
      </p:nvGrpSpPr>
      <p:grpSpPr>
        <a:xfrm>
          <a:off x="0" y="0"/>
          <a:ext cx="0" cy="0"/>
          <a:chOff x="0" y="0"/>
          <a:chExt cx="0" cy="0"/>
        </a:xfrm>
      </p:grpSpPr>
      <p:sp>
        <p:nvSpPr>
          <p:cNvPr id="377" name="Google Shape;377;p10"/>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378" name="Google Shape;378;p10"/>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379" name="Google Shape;379;p10"/>
          <p:cNvSpPr/>
          <p:nvPr/>
        </p:nvSpPr>
        <p:spPr>
          <a:xfrm rot="8100000">
            <a:off x="1847981" y="4252969"/>
            <a:ext cx="122612" cy="122612"/>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0"/>
          <p:cNvSpPr/>
          <p:nvPr/>
        </p:nvSpPr>
        <p:spPr>
          <a:xfrm rot="8100000">
            <a:off x="6038981" y="4536819"/>
            <a:ext cx="122612" cy="122612"/>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0"/>
          <p:cNvSpPr/>
          <p:nvPr/>
        </p:nvSpPr>
        <p:spPr>
          <a:xfrm rot="8100000">
            <a:off x="7181981" y="4570169"/>
            <a:ext cx="122612" cy="122612"/>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 name="Google Shape;382;p10"/>
          <p:cNvGrpSpPr/>
          <p:nvPr/>
        </p:nvGrpSpPr>
        <p:grpSpPr>
          <a:xfrm>
            <a:off x="-9525" y="4462475"/>
            <a:ext cx="9167825" cy="595300"/>
            <a:chOff x="-9525" y="4462475"/>
            <a:chExt cx="9167825" cy="595300"/>
          </a:xfrm>
        </p:grpSpPr>
        <p:sp>
          <p:nvSpPr>
            <p:cNvPr id="383" name="Google Shape;383;p10"/>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med" len="med"/>
              <a:tailEnd type="none" w="med" len="med"/>
            </a:ln>
          </p:spPr>
        </p:sp>
        <p:sp>
          <p:nvSpPr>
            <p:cNvPr id="384" name="Google Shape;384;p10"/>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med" len="med"/>
              <a:tailEnd type="none" w="med" len="med"/>
            </a:ln>
          </p:spPr>
        </p:sp>
        <p:sp>
          <p:nvSpPr>
            <p:cNvPr id="385" name="Google Shape;385;p10"/>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med" len="med"/>
              <a:tailEnd type="none" w="med" len="med"/>
            </a:ln>
          </p:spPr>
        </p:sp>
      </p:grpSp>
      <p:grpSp>
        <p:nvGrpSpPr>
          <p:cNvPr id="386" name="Google Shape;386;p10"/>
          <p:cNvGrpSpPr/>
          <p:nvPr/>
        </p:nvGrpSpPr>
        <p:grpSpPr>
          <a:xfrm>
            <a:off x="-42837" y="4443488"/>
            <a:ext cx="9229575" cy="642788"/>
            <a:chOff x="-42837" y="4443488"/>
            <a:chExt cx="9229575" cy="642788"/>
          </a:xfrm>
        </p:grpSpPr>
        <p:sp>
          <p:nvSpPr>
            <p:cNvPr id="387" name="Google Shape;387;p10"/>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0"/>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0"/>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0"/>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0"/>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0"/>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0"/>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0"/>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0"/>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0"/>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0"/>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0"/>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0"/>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0"/>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0"/>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0"/>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0"/>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0"/>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0"/>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0"/>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0"/>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0"/>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0"/>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0"/>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0"/>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 name="Google Shape;412;p10"/>
          <p:cNvSpPr/>
          <p:nvPr/>
        </p:nvSpPr>
        <p:spPr>
          <a:xfrm>
            <a:off x="2990700" y="458620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0"/>
          <p:cNvSpPr/>
          <p:nvPr/>
        </p:nvSpPr>
        <p:spPr>
          <a:xfrm>
            <a:off x="1085700" y="4871950"/>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0"/>
          <p:cNvSpPr/>
          <p:nvPr/>
        </p:nvSpPr>
        <p:spPr>
          <a:xfrm>
            <a:off x="4895700" y="4516032"/>
            <a:ext cx="114600" cy="1146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0"/>
          <p:cNvSpPr/>
          <p:nvPr/>
        </p:nvSpPr>
        <p:spPr>
          <a:xfrm rot="8100000">
            <a:off x="8699949" y="4329169"/>
            <a:ext cx="122612" cy="122612"/>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0"/>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381000" y="7"/>
            <a:ext cx="8382000" cy="5162348"/>
            <a:chOff x="381000" y="-18750"/>
            <a:chExt cx="8382000" cy="5181000"/>
          </a:xfrm>
        </p:grpSpPr>
        <p:cxnSp>
          <p:nvCxnSpPr>
            <p:cNvPr id="7" name="Google Shape;7;p1"/>
            <p:cNvCxnSpPr/>
            <p:nvPr/>
          </p:nvCxnSpPr>
          <p:spPr>
            <a:xfrm>
              <a:off x="762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8" name="Google Shape;8;p1"/>
            <p:cNvCxnSpPr/>
            <p:nvPr/>
          </p:nvCxnSpPr>
          <p:spPr>
            <a:xfrm>
              <a:off x="1524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9" name="Google Shape;9;p1"/>
            <p:cNvCxnSpPr/>
            <p:nvPr/>
          </p:nvCxnSpPr>
          <p:spPr>
            <a:xfrm>
              <a:off x="2286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0" name="Google Shape;10;p1"/>
            <p:cNvCxnSpPr/>
            <p:nvPr/>
          </p:nvCxnSpPr>
          <p:spPr>
            <a:xfrm>
              <a:off x="3048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1" name="Google Shape;11;p1"/>
            <p:cNvCxnSpPr/>
            <p:nvPr/>
          </p:nvCxnSpPr>
          <p:spPr>
            <a:xfrm>
              <a:off x="3810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2" name="Google Shape;12;p1"/>
            <p:cNvCxnSpPr/>
            <p:nvPr/>
          </p:nvCxnSpPr>
          <p:spPr>
            <a:xfrm>
              <a:off x="4572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3" name="Google Shape;13;p1"/>
            <p:cNvCxnSpPr/>
            <p:nvPr/>
          </p:nvCxnSpPr>
          <p:spPr>
            <a:xfrm>
              <a:off x="5334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4" name="Google Shape;14;p1"/>
            <p:cNvCxnSpPr/>
            <p:nvPr/>
          </p:nvCxnSpPr>
          <p:spPr>
            <a:xfrm>
              <a:off x="6096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5" name="Google Shape;15;p1"/>
            <p:cNvCxnSpPr/>
            <p:nvPr/>
          </p:nvCxnSpPr>
          <p:spPr>
            <a:xfrm>
              <a:off x="6858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6" name="Google Shape;16;p1"/>
            <p:cNvCxnSpPr/>
            <p:nvPr/>
          </p:nvCxnSpPr>
          <p:spPr>
            <a:xfrm>
              <a:off x="7620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7" name="Google Shape;17;p1"/>
            <p:cNvCxnSpPr/>
            <p:nvPr/>
          </p:nvCxnSpPr>
          <p:spPr>
            <a:xfrm>
              <a:off x="8382000" y="-18750"/>
              <a:ext cx="0" cy="5181000"/>
            </a:xfrm>
            <a:prstGeom prst="straightConnector1">
              <a:avLst/>
            </a:prstGeom>
            <a:noFill/>
            <a:ln w="9525" cap="flat" cmpd="sng">
              <a:solidFill>
                <a:srgbClr val="F3F3F3"/>
              </a:solidFill>
              <a:prstDash val="solid"/>
              <a:round/>
              <a:headEnd type="none" w="med" len="med"/>
              <a:tailEnd type="none" w="med" len="med"/>
            </a:ln>
          </p:spPr>
        </p:cxnSp>
        <p:cxnSp>
          <p:nvCxnSpPr>
            <p:cNvPr id="18" name="Google Shape;18;p1"/>
            <p:cNvCxnSpPr/>
            <p:nvPr/>
          </p:nvCxnSpPr>
          <p:spPr>
            <a:xfrm>
              <a:off x="381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19" name="Google Shape;19;p1"/>
            <p:cNvCxnSpPr/>
            <p:nvPr/>
          </p:nvCxnSpPr>
          <p:spPr>
            <a:xfrm>
              <a:off x="1143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0" name="Google Shape;20;p1"/>
            <p:cNvCxnSpPr/>
            <p:nvPr/>
          </p:nvCxnSpPr>
          <p:spPr>
            <a:xfrm>
              <a:off x="1905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1" name="Google Shape;21;p1"/>
            <p:cNvCxnSpPr/>
            <p:nvPr/>
          </p:nvCxnSpPr>
          <p:spPr>
            <a:xfrm>
              <a:off x="2667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2" name="Google Shape;22;p1"/>
            <p:cNvCxnSpPr/>
            <p:nvPr/>
          </p:nvCxnSpPr>
          <p:spPr>
            <a:xfrm>
              <a:off x="3429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3" name="Google Shape;23;p1"/>
            <p:cNvCxnSpPr/>
            <p:nvPr/>
          </p:nvCxnSpPr>
          <p:spPr>
            <a:xfrm>
              <a:off x="4191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4" name="Google Shape;24;p1"/>
            <p:cNvCxnSpPr/>
            <p:nvPr/>
          </p:nvCxnSpPr>
          <p:spPr>
            <a:xfrm>
              <a:off x="4953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5" name="Google Shape;25;p1"/>
            <p:cNvCxnSpPr/>
            <p:nvPr/>
          </p:nvCxnSpPr>
          <p:spPr>
            <a:xfrm>
              <a:off x="5715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6" name="Google Shape;26;p1"/>
            <p:cNvCxnSpPr/>
            <p:nvPr/>
          </p:nvCxnSpPr>
          <p:spPr>
            <a:xfrm>
              <a:off x="6477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7" name="Google Shape;27;p1"/>
            <p:cNvCxnSpPr/>
            <p:nvPr/>
          </p:nvCxnSpPr>
          <p:spPr>
            <a:xfrm>
              <a:off x="7239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8" name="Google Shape;28;p1"/>
            <p:cNvCxnSpPr/>
            <p:nvPr/>
          </p:nvCxnSpPr>
          <p:spPr>
            <a:xfrm>
              <a:off x="8001000" y="-18750"/>
              <a:ext cx="0" cy="5181000"/>
            </a:xfrm>
            <a:prstGeom prst="straightConnector1">
              <a:avLst/>
            </a:prstGeom>
            <a:noFill/>
            <a:ln w="9525" cap="flat" cmpd="sng">
              <a:solidFill>
                <a:srgbClr val="F3F3F3"/>
              </a:solidFill>
              <a:prstDash val="dash"/>
              <a:round/>
              <a:headEnd type="none" w="med" len="med"/>
              <a:tailEnd type="none" w="med" len="med"/>
            </a:ln>
          </p:spPr>
        </p:cxnSp>
        <p:cxnSp>
          <p:nvCxnSpPr>
            <p:cNvPr id="29" name="Google Shape;29;p1"/>
            <p:cNvCxnSpPr/>
            <p:nvPr/>
          </p:nvCxnSpPr>
          <p:spPr>
            <a:xfrm>
              <a:off x="8763000" y="-18750"/>
              <a:ext cx="0" cy="5181000"/>
            </a:xfrm>
            <a:prstGeom prst="straightConnector1">
              <a:avLst/>
            </a:prstGeom>
            <a:noFill/>
            <a:ln w="9525" cap="flat" cmpd="sng">
              <a:solidFill>
                <a:srgbClr val="F3F3F3"/>
              </a:solidFill>
              <a:prstDash val="dash"/>
              <a:round/>
              <a:headEnd type="none" w="med" len="med"/>
              <a:tailEnd type="none" w="med" len="med"/>
            </a:ln>
          </p:spPr>
        </p:cxnSp>
      </p:grpSp>
      <p:sp>
        <p:nvSpPr>
          <p:cNvPr id="30" name="Google Shape;30;p1"/>
          <p:cNvSpPr txBox="1">
            <a:spLocks noGrp="1"/>
          </p:cNvSpPr>
          <p:nvPr>
            <p:ph type="title"/>
          </p:nvPr>
        </p:nvSpPr>
        <p:spPr>
          <a:xfrm>
            <a:off x="1047750" y="634125"/>
            <a:ext cx="6996600" cy="7158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1pPr>
            <a:lvl2pPr lvl="1"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2pPr>
            <a:lvl3pPr lvl="2"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3pPr>
            <a:lvl4pPr lvl="3"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4pPr>
            <a:lvl5pPr lvl="4"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5pPr>
            <a:lvl6pPr lvl="5"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6pPr>
            <a:lvl7pPr lvl="6"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7pPr>
            <a:lvl8pPr lvl="7"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8pPr>
            <a:lvl9pPr lvl="8" algn="ctr">
              <a:spcBef>
                <a:spcPts val="0"/>
              </a:spcBef>
              <a:spcAft>
                <a:spcPts val="0"/>
              </a:spcAft>
              <a:buClr>
                <a:schemeClr val="accent1"/>
              </a:buClr>
              <a:buSzPts val="2000"/>
              <a:buFont typeface="Oswald"/>
              <a:buNone/>
              <a:defRPr sz="2000" b="1">
                <a:solidFill>
                  <a:schemeClr val="accent1"/>
                </a:solidFill>
                <a:latin typeface="Oswald"/>
                <a:ea typeface="Oswald"/>
                <a:cs typeface="Oswald"/>
                <a:sym typeface="Oswald"/>
              </a:defRPr>
            </a:lvl9pPr>
          </a:lstStyle>
          <a:p>
            <a:endParaRPr/>
          </a:p>
        </p:txBody>
      </p:sp>
      <p:sp>
        <p:nvSpPr>
          <p:cNvPr id="31" name="Google Shape;31;p1"/>
          <p:cNvSpPr txBox="1">
            <a:spLocks noGrp="1"/>
          </p:cNvSpPr>
          <p:nvPr>
            <p:ph type="body" idx="1"/>
          </p:nvPr>
        </p:nvSpPr>
        <p:spPr>
          <a:xfrm>
            <a:off x="1075850" y="1540175"/>
            <a:ext cx="6996600" cy="1922100"/>
          </a:xfrm>
          <a:prstGeom prst="rect">
            <a:avLst/>
          </a:prstGeom>
          <a:noFill/>
          <a:ln>
            <a:noFill/>
          </a:ln>
        </p:spPr>
        <p:txBody>
          <a:bodyPr spcFirstLastPara="1" wrap="square" lIns="91425" tIns="91425" rIns="91425" bIns="91425" anchor="t" anchorCtr="0">
            <a:noAutofit/>
          </a:bodyPr>
          <a:lstStyle>
            <a:lvl1pPr marL="457200" lvl="0" indent="-355600">
              <a:spcBef>
                <a:spcPts val="600"/>
              </a:spcBef>
              <a:spcAft>
                <a:spcPts val="0"/>
              </a:spcAft>
              <a:buClr>
                <a:schemeClr val="dk1"/>
              </a:buClr>
              <a:buSzPts val="2000"/>
              <a:buFont typeface="Source Sans Pro"/>
              <a:buChar char="◉"/>
              <a:defRPr sz="2000">
                <a:solidFill>
                  <a:schemeClr val="dk1"/>
                </a:solidFill>
                <a:latin typeface="Source Sans Pro"/>
                <a:ea typeface="Source Sans Pro"/>
                <a:cs typeface="Source Sans Pro"/>
                <a:sym typeface="Source Sans Pro"/>
              </a:defRPr>
            </a:lvl1pPr>
            <a:lvl2pPr marL="914400" lvl="1"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2pPr>
            <a:lvl3pPr marL="1371600" lvl="2"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32" name="Google Shape;32;p1"/>
          <p:cNvSpPr txBox="1">
            <a:spLocks noGrp="1"/>
          </p:cNvSpPr>
          <p:nvPr>
            <p:ph type="sldNum" idx="12"/>
          </p:nvPr>
        </p:nvSpPr>
        <p:spPr>
          <a:xfrm>
            <a:off x="8556775" y="4826200"/>
            <a:ext cx="548700" cy="317400"/>
          </a:xfrm>
          <a:prstGeom prst="rect">
            <a:avLst/>
          </a:prstGeom>
          <a:noFill/>
          <a:ln>
            <a:noFill/>
          </a:ln>
        </p:spPr>
        <p:txBody>
          <a:bodyPr spcFirstLastPara="1" wrap="square" lIns="91425" tIns="91425" rIns="91425" bIns="91425" anchor="t" anchorCtr="0">
            <a:noAutofit/>
          </a:bodyPr>
          <a:lstStyle>
            <a:lvl1pPr lvl="0" algn="r">
              <a:buNone/>
              <a:defRPr sz="1000">
                <a:solidFill>
                  <a:srgbClr val="FFFFFF"/>
                </a:solidFill>
                <a:latin typeface="Oswald"/>
                <a:ea typeface="Oswald"/>
                <a:cs typeface="Oswald"/>
                <a:sym typeface="Oswald"/>
              </a:defRPr>
            </a:lvl1pPr>
            <a:lvl2pPr lvl="1" algn="r">
              <a:buNone/>
              <a:defRPr sz="1000">
                <a:solidFill>
                  <a:srgbClr val="FFFFFF"/>
                </a:solidFill>
                <a:latin typeface="Oswald"/>
                <a:ea typeface="Oswald"/>
                <a:cs typeface="Oswald"/>
                <a:sym typeface="Oswald"/>
              </a:defRPr>
            </a:lvl2pPr>
            <a:lvl3pPr lvl="2" algn="r">
              <a:buNone/>
              <a:defRPr sz="1000">
                <a:solidFill>
                  <a:srgbClr val="FFFFFF"/>
                </a:solidFill>
                <a:latin typeface="Oswald"/>
                <a:ea typeface="Oswald"/>
                <a:cs typeface="Oswald"/>
                <a:sym typeface="Oswald"/>
              </a:defRPr>
            </a:lvl3pPr>
            <a:lvl4pPr lvl="3" algn="r">
              <a:buNone/>
              <a:defRPr sz="1000">
                <a:solidFill>
                  <a:srgbClr val="FFFFFF"/>
                </a:solidFill>
                <a:latin typeface="Oswald"/>
                <a:ea typeface="Oswald"/>
                <a:cs typeface="Oswald"/>
                <a:sym typeface="Oswald"/>
              </a:defRPr>
            </a:lvl4pPr>
            <a:lvl5pPr lvl="4" algn="r">
              <a:buNone/>
              <a:defRPr sz="1000">
                <a:solidFill>
                  <a:srgbClr val="FFFFFF"/>
                </a:solidFill>
                <a:latin typeface="Oswald"/>
                <a:ea typeface="Oswald"/>
                <a:cs typeface="Oswald"/>
                <a:sym typeface="Oswald"/>
              </a:defRPr>
            </a:lvl5pPr>
            <a:lvl6pPr lvl="5" algn="r">
              <a:buNone/>
              <a:defRPr sz="1000">
                <a:solidFill>
                  <a:srgbClr val="FFFFFF"/>
                </a:solidFill>
                <a:latin typeface="Oswald"/>
                <a:ea typeface="Oswald"/>
                <a:cs typeface="Oswald"/>
                <a:sym typeface="Oswald"/>
              </a:defRPr>
            </a:lvl6pPr>
            <a:lvl7pPr lvl="6" algn="r">
              <a:buNone/>
              <a:defRPr sz="1000">
                <a:solidFill>
                  <a:srgbClr val="FFFFFF"/>
                </a:solidFill>
                <a:latin typeface="Oswald"/>
                <a:ea typeface="Oswald"/>
                <a:cs typeface="Oswald"/>
                <a:sym typeface="Oswald"/>
              </a:defRPr>
            </a:lvl7pPr>
            <a:lvl8pPr lvl="7" algn="r">
              <a:buNone/>
              <a:defRPr sz="1000">
                <a:solidFill>
                  <a:srgbClr val="FFFFFF"/>
                </a:solidFill>
                <a:latin typeface="Oswald"/>
                <a:ea typeface="Oswald"/>
                <a:cs typeface="Oswald"/>
                <a:sym typeface="Oswald"/>
              </a:defRPr>
            </a:lvl8pPr>
            <a:lvl9pPr lvl="8" algn="r">
              <a:buNone/>
              <a:defRPr sz="1000">
                <a:solidFill>
                  <a:srgbClr val="FFFFFF"/>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web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13"/>
          <p:cNvSpPr txBox="1">
            <a:spLocks noGrp="1"/>
          </p:cNvSpPr>
          <p:nvPr>
            <p:ph type="ctrTitle"/>
          </p:nvPr>
        </p:nvSpPr>
        <p:spPr>
          <a:xfrm>
            <a:off x="395536" y="3291830"/>
            <a:ext cx="8011879" cy="1008112"/>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5400" dirty="0">
                <a:latin typeface="Arial Black" panose="020B0A04020102020204" pitchFamily="34" charset="0"/>
              </a:rPr>
              <a:t>Data Visualization</a:t>
            </a:r>
            <a:br>
              <a:rPr lang="en-US" sz="5400" dirty="0">
                <a:latin typeface="Arial Black" panose="020B0A04020102020204" pitchFamily="34" charset="0"/>
              </a:rPr>
            </a:br>
            <a:r>
              <a:rPr lang="en-US" sz="5400" dirty="0">
                <a:latin typeface="Arial Black" panose="020B0A04020102020204" pitchFamily="34" charset="0"/>
              </a:rPr>
              <a:t>(Plotting)</a:t>
            </a:r>
            <a:endParaRPr sz="5400" dirty="0">
              <a:latin typeface="Arial Black" panose="020B0A040201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195486"/>
            <a:ext cx="7054750" cy="20027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
        <p:nvSpPr>
          <p:cNvPr id="9" name="TextBox 8"/>
          <p:cNvSpPr txBox="1"/>
          <p:nvPr/>
        </p:nvSpPr>
        <p:spPr>
          <a:xfrm>
            <a:off x="4572000" y="987574"/>
            <a:ext cx="2520280" cy="3046988"/>
          </a:xfrm>
          <a:prstGeom prst="rect">
            <a:avLst/>
          </a:prstGeom>
          <a:noFill/>
        </p:spPr>
        <p:txBody>
          <a:bodyPr wrap="square" rtlCol="0">
            <a:spAutoFit/>
          </a:bodyPr>
          <a:lstStyle/>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Area chart</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Pie chart</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Box plot</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Tree map</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Pivot table</a:t>
            </a:r>
          </a:p>
          <a:p>
            <a:endParaRPr lang="en-IN" sz="3200" b="1" dirty="0">
              <a:latin typeface="Gabriola" panose="04040605051002020D02" pitchFamily="82" charset="0"/>
              <a:cs typeface="Calibri" panose="020F0502020204030204" pitchFamily="34" charset="0"/>
            </a:endParaRPr>
          </a:p>
        </p:txBody>
      </p:sp>
      <p:sp>
        <p:nvSpPr>
          <p:cNvPr id="10" name="TextBox 9"/>
          <p:cNvSpPr txBox="1"/>
          <p:nvPr/>
        </p:nvSpPr>
        <p:spPr>
          <a:xfrm>
            <a:off x="755576" y="915566"/>
            <a:ext cx="2520280" cy="3539430"/>
          </a:xfrm>
          <a:prstGeom prst="rect">
            <a:avLst/>
          </a:prstGeom>
          <a:noFill/>
        </p:spPr>
        <p:txBody>
          <a:bodyPr wrap="square" rtlCol="0">
            <a:spAutoFit/>
          </a:bodyPr>
          <a:lstStyle/>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Bar plot</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Histogram</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Scatter plot</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Heat map</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Line plot</a:t>
            </a:r>
          </a:p>
          <a:p>
            <a:pPr marL="285750" indent="-285750">
              <a:buFont typeface="Arial" panose="020B0604020202020204" pitchFamily="34" charset="0"/>
              <a:buChar char="ʘ"/>
            </a:pPr>
            <a:r>
              <a:rPr lang="en-US" sz="3200" b="1" dirty="0">
                <a:latin typeface="Gabriola" panose="04040605051002020D02" pitchFamily="82" charset="0"/>
                <a:cs typeface="Calibri" panose="020F0502020204030204" pitchFamily="34" charset="0"/>
              </a:rPr>
              <a:t>Violin plot</a:t>
            </a:r>
          </a:p>
          <a:p>
            <a:endParaRPr lang="en-IN" sz="3200" b="1" dirty="0">
              <a:latin typeface="Gabriola" panose="04040605051002020D02" pitchFamily="82" charset="0"/>
              <a:cs typeface="Calibri" panose="020F0502020204030204" pitchFamily="34" charset="0"/>
            </a:endParaRPr>
          </a:p>
        </p:txBody>
      </p:sp>
    </p:spTree>
    <p:extLst>
      <p:ext uri="{BB962C8B-B14F-4D97-AF65-F5344CB8AC3E}">
        <p14:creationId xmlns:p14="http://schemas.microsoft.com/office/powerpoint/2010/main" val="15707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A5BEB4-F02F-4257-9049-D81C5A6C3F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a:t>
            </a:fld>
            <a:endParaRPr lang="en"/>
          </a:p>
        </p:txBody>
      </p:sp>
      <p:sp>
        <p:nvSpPr>
          <p:cNvPr id="3" name="AutoShape 2">
            <a:extLst>
              <a:ext uri="{FF2B5EF4-FFF2-40B4-BE49-F238E27FC236}">
                <a16:creationId xmlns:a16="http://schemas.microsoft.com/office/drawing/2014/main" id="{526C50AF-C684-A5C9-B0BA-2866DD125BA9}"/>
              </a:ext>
            </a:extLst>
          </p:cNvPr>
          <p:cNvSpPr>
            <a:spLocks noChangeAspect="1" noChangeArrowheads="1"/>
          </p:cNvSpPr>
          <p:nvPr/>
        </p:nvSpPr>
        <p:spPr bwMode="auto">
          <a:xfrm>
            <a:off x="4419600" y="2419350"/>
            <a:ext cx="3248744" cy="32487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0BCB1E71-91F6-5365-DB00-224014102433}"/>
              </a:ext>
            </a:extLst>
          </p:cNvPr>
          <p:cNvPicPr>
            <a:picLocks noChangeAspect="1"/>
          </p:cNvPicPr>
          <p:nvPr/>
        </p:nvPicPr>
        <p:blipFill>
          <a:blip r:embed="rId2"/>
          <a:stretch>
            <a:fillRect/>
          </a:stretch>
        </p:blipFill>
        <p:spPr>
          <a:xfrm>
            <a:off x="19948" y="267494"/>
            <a:ext cx="9144000" cy="3291840"/>
          </a:xfrm>
          <a:prstGeom prst="rect">
            <a:avLst/>
          </a:prstGeom>
          <a:ln>
            <a:noFill/>
          </a:ln>
          <a:effectLst>
            <a:softEdge rad="112500"/>
          </a:effectLst>
        </p:spPr>
      </p:pic>
    </p:spTree>
    <p:extLst>
      <p:ext uri="{BB962C8B-B14F-4D97-AF65-F5344CB8AC3E}">
        <p14:creationId xmlns:p14="http://schemas.microsoft.com/office/powerpoint/2010/main" val="3071907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952DE3-CF4A-E72C-160B-EB5F8BE795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4</a:t>
            </a:fld>
            <a:endParaRPr lang="en"/>
          </a:p>
        </p:txBody>
      </p:sp>
      <p:pic>
        <p:nvPicPr>
          <p:cNvPr id="8" name="Picture 7">
            <a:extLst>
              <a:ext uri="{FF2B5EF4-FFF2-40B4-BE49-F238E27FC236}">
                <a16:creationId xmlns:a16="http://schemas.microsoft.com/office/drawing/2014/main" id="{FCF0A692-3ABE-0479-9E26-BAEBA73980C8}"/>
              </a:ext>
            </a:extLst>
          </p:cNvPr>
          <p:cNvPicPr>
            <a:picLocks noChangeAspect="1"/>
          </p:cNvPicPr>
          <p:nvPr/>
        </p:nvPicPr>
        <p:blipFill>
          <a:blip r:embed="rId2"/>
          <a:stretch>
            <a:fillRect/>
          </a:stretch>
        </p:blipFill>
        <p:spPr>
          <a:xfrm>
            <a:off x="0" y="195486"/>
            <a:ext cx="9144000" cy="3977640"/>
          </a:xfrm>
          <a:prstGeom prst="rect">
            <a:avLst/>
          </a:prstGeom>
          <a:ln>
            <a:noFill/>
          </a:ln>
          <a:effectLst>
            <a:softEdge rad="112500"/>
          </a:effectLst>
        </p:spPr>
      </p:pic>
    </p:spTree>
    <p:extLst>
      <p:ext uri="{BB962C8B-B14F-4D97-AF65-F5344CB8AC3E}">
        <p14:creationId xmlns:p14="http://schemas.microsoft.com/office/powerpoint/2010/main" val="3471393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2C47E8-C3BD-6ABC-45BB-DB468F0729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5</a:t>
            </a:fld>
            <a:endParaRPr lang="en"/>
          </a:p>
        </p:txBody>
      </p:sp>
      <p:pic>
        <p:nvPicPr>
          <p:cNvPr id="6" name="Picture 5">
            <a:extLst>
              <a:ext uri="{FF2B5EF4-FFF2-40B4-BE49-F238E27FC236}">
                <a16:creationId xmlns:a16="http://schemas.microsoft.com/office/drawing/2014/main" id="{02878DA0-F803-39E2-0157-3353460316E6}"/>
              </a:ext>
            </a:extLst>
          </p:cNvPr>
          <p:cNvPicPr>
            <a:picLocks noChangeAspect="1"/>
          </p:cNvPicPr>
          <p:nvPr/>
        </p:nvPicPr>
        <p:blipFill>
          <a:blip r:embed="rId3"/>
          <a:stretch>
            <a:fillRect/>
          </a:stretch>
        </p:blipFill>
        <p:spPr>
          <a:xfrm>
            <a:off x="1115616" y="267494"/>
            <a:ext cx="6459417" cy="3881899"/>
          </a:xfrm>
          <a:prstGeom prst="rect">
            <a:avLst/>
          </a:prstGeom>
          <a:ln>
            <a:noFill/>
          </a:ln>
          <a:effectLst>
            <a:softEdge rad="112500"/>
          </a:effectLst>
        </p:spPr>
      </p:pic>
    </p:spTree>
    <p:extLst>
      <p:ext uri="{BB962C8B-B14F-4D97-AF65-F5344CB8AC3E}">
        <p14:creationId xmlns:p14="http://schemas.microsoft.com/office/powerpoint/2010/main" val="1152914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68B86D-BFDF-539C-57EB-62A2DBA5BB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pic>
        <p:nvPicPr>
          <p:cNvPr id="4" name="Picture 3">
            <a:extLst>
              <a:ext uri="{FF2B5EF4-FFF2-40B4-BE49-F238E27FC236}">
                <a16:creationId xmlns:a16="http://schemas.microsoft.com/office/drawing/2014/main" id="{F5FBAEF0-AD63-4897-22C5-E0F6EE221328}"/>
              </a:ext>
            </a:extLst>
          </p:cNvPr>
          <p:cNvPicPr>
            <a:picLocks noChangeAspect="1"/>
          </p:cNvPicPr>
          <p:nvPr/>
        </p:nvPicPr>
        <p:blipFill>
          <a:blip r:embed="rId2"/>
          <a:stretch>
            <a:fillRect/>
          </a:stretch>
        </p:blipFill>
        <p:spPr>
          <a:xfrm>
            <a:off x="989856" y="123478"/>
            <a:ext cx="7164288" cy="4341275"/>
          </a:xfrm>
          <a:prstGeom prst="rect">
            <a:avLst/>
          </a:prstGeom>
          <a:ln>
            <a:noFill/>
          </a:ln>
          <a:effectLst>
            <a:softEdge rad="112500"/>
          </a:effectLst>
        </p:spPr>
      </p:pic>
    </p:spTree>
    <p:extLst>
      <p:ext uri="{BB962C8B-B14F-4D97-AF65-F5344CB8AC3E}">
        <p14:creationId xmlns:p14="http://schemas.microsoft.com/office/powerpoint/2010/main" val="3499166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27AF7F-45FF-3AD9-8590-F1EB207D56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7</a:t>
            </a:fld>
            <a:endParaRPr lang="en"/>
          </a:p>
        </p:txBody>
      </p:sp>
      <p:pic>
        <p:nvPicPr>
          <p:cNvPr id="4" name="Picture 3">
            <a:extLst>
              <a:ext uri="{FF2B5EF4-FFF2-40B4-BE49-F238E27FC236}">
                <a16:creationId xmlns:a16="http://schemas.microsoft.com/office/drawing/2014/main" id="{C92A4623-FDC6-9430-A14E-CC49D4DFD2E2}"/>
              </a:ext>
            </a:extLst>
          </p:cNvPr>
          <p:cNvPicPr>
            <a:picLocks noChangeAspect="1"/>
          </p:cNvPicPr>
          <p:nvPr/>
        </p:nvPicPr>
        <p:blipFill>
          <a:blip r:embed="rId2"/>
          <a:stretch>
            <a:fillRect/>
          </a:stretch>
        </p:blipFill>
        <p:spPr>
          <a:xfrm>
            <a:off x="35074" y="339502"/>
            <a:ext cx="9144000" cy="4015740"/>
          </a:xfrm>
          <a:prstGeom prst="rect">
            <a:avLst/>
          </a:prstGeom>
          <a:ln>
            <a:noFill/>
          </a:ln>
          <a:effectLst>
            <a:softEdge rad="112500"/>
          </a:effectLst>
        </p:spPr>
      </p:pic>
    </p:spTree>
    <p:extLst>
      <p:ext uri="{BB962C8B-B14F-4D97-AF65-F5344CB8AC3E}">
        <p14:creationId xmlns:p14="http://schemas.microsoft.com/office/powerpoint/2010/main" val="423854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7D5F7-9239-BFBD-B8BB-B5D8224115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8</a:t>
            </a:fld>
            <a:endParaRPr lang="en"/>
          </a:p>
        </p:txBody>
      </p:sp>
      <p:pic>
        <p:nvPicPr>
          <p:cNvPr id="4" name="Picture 3">
            <a:extLst>
              <a:ext uri="{FF2B5EF4-FFF2-40B4-BE49-F238E27FC236}">
                <a16:creationId xmlns:a16="http://schemas.microsoft.com/office/drawing/2014/main" id="{604539E2-0F1B-4D88-ED6E-AF9CB1650D60}"/>
              </a:ext>
            </a:extLst>
          </p:cNvPr>
          <p:cNvPicPr>
            <a:picLocks noChangeAspect="1"/>
          </p:cNvPicPr>
          <p:nvPr/>
        </p:nvPicPr>
        <p:blipFill rotWithShape="1">
          <a:blip r:embed="rId2"/>
          <a:srcRect t="5201" b="6169"/>
          <a:stretch/>
        </p:blipFill>
        <p:spPr>
          <a:xfrm>
            <a:off x="556492" y="0"/>
            <a:ext cx="7984735" cy="4558706"/>
          </a:xfrm>
          <a:prstGeom prst="rect">
            <a:avLst/>
          </a:prstGeom>
          <a:ln>
            <a:noFill/>
          </a:ln>
          <a:effectLst>
            <a:softEdge rad="112500"/>
          </a:effectLst>
        </p:spPr>
      </p:pic>
    </p:spTree>
    <p:extLst>
      <p:ext uri="{BB962C8B-B14F-4D97-AF65-F5344CB8AC3E}">
        <p14:creationId xmlns:p14="http://schemas.microsoft.com/office/powerpoint/2010/main" val="3957306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9</a:t>
            </a:fld>
            <a:endParaRPr lang="en"/>
          </a:p>
        </p:txBody>
      </p:sp>
      <p:sp>
        <p:nvSpPr>
          <p:cNvPr id="3" name="TextBox 2"/>
          <p:cNvSpPr txBox="1"/>
          <p:nvPr/>
        </p:nvSpPr>
        <p:spPr>
          <a:xfrm>
            <a:off x="251520" y="555526"/>
            <a:ext cx="8352928" cy="3539430"/>
          </a:xfrm>
          <a:prstGeom prst="rect">
            <a:avLst/>
          </a:prstGeom>
          <a:noFill/>
        </p:spPr>
        <p:txBody>
          <a:bodyPr wrap="square" rtlCol="0">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bar plot is a visual representation of categorical data using rectangular bars, </a:t>
            </a:r>
          </a:p>
          <a:p>
            <a:r>
              <a:rPr lang="en-US" sz="1200" i="1" dirty="0">
                <a:latin typeface="Calibri" panose="020F0502020204030204" pitchFamily="34" charset="0"/>
                <a:cs typeface="Calibri" panose="020F0502020204030204" pitchFamily="34" charset="0"/>
              </a:rPr>
              <a:t>where the height of each bar corresponds to the value It is commonly used for</a:t>
            </a:r>
          </a:p>
          <a:p>
            <a:r>
              <a:rPr lang="en-US" sz="1200" i="1" dirty="0">
                <a:latin typeface="Calibri" panose="020F0502020204030204" pitchFamily="34" charset="0"/>
                <a:cs typeface="Calibri" panose="020F0502020204030204" pitchFamily="34" charset="0"/>
              </a:rPr>
              <a:t> comparing and summarizing data.</a:t>
            </a:r>
          </a:p>
          <a:p>
            <a:endParaRPr lang="en-IN" sz="1600" b="1"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Bar charts are more commonly used to compare different values,</a:t>
            </a:r>
          </a:p>
          <a:p>
            <a:r>
              <a:rPr lang="en-US" sz="1200" i="1" dirty="0">
                <a:latin typeface="Calibri" panose="020F0502020204030204" pitchFamily="34" charset="0"/>
                <a:cs typeface="Calibri" panose="020F0502020204030204" pitchFamily="34" charset="0"/>
              </a:rPr>
              <a:t> items and categories of data. A bar plot visualizes categorical data by using bars</a:t>
            </a:r>
          </a:p>
          <a:p>
            <a:r>
              <a:rPr lang="en-US" sz="1200" i="1" dirty="0">
                <a:latin typeface="Calibri" panose="020F0502020204030204" pitchFamily="34" charset="0"/>
                <a:cs typeface="Calibri" panose="020F0502020204030204" pitchFamily="34" charset="0"/>
              </a:rPr>
              <a:t> to represent the values or frequencies of different categories</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 bar plot measures the magnitude by using the height or length of the bars to represent the values or quantities associated with each category. It helps to identify patterns, comparisons, or trends within the data.</a:t>
            </a:r>
          </a:p>
          <a:p>
            <a:endParaRPr lang="en-IN" sz="1200" b="1"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i="1" dirty="0">
                <a:latin typeface="Calibri" panose="020F0502020204030204" pitchFamily="34" charset="0"/>
                <a:cs typeface="Calibri" panose="020F0502020204030204" pitchFamily="34" charset="0"/>
              </a:rPr>
              <a:t>A bar plot can use various sources of data, including survey responses, sales figures, population statistics, or any other data that can be categorized into distinct groups.</a:t>
            </a:r>
            <a:endParaRPr lang="en-IN" sz="1200" i="1" dirty="0">
              <a:latin typeface="Calibri" panose="020F0502020204030204" pitchFamily="34" charset="0"/>
              <a:cs typeface="Calibri" panose="020F0502020204030204" pitchFamily="34" charset="0"/>
            </a:endParaRPr>
          </a:p>
        </p:txBody>
      </p:sp>
      <p:sp>
        <p:nvSpPr>
          <p:cNvPr id="5" name="TextBox 4"/>
          <p:cNvSpPr txBox="1"/>
          <p:nvPr/>
        </p:nvSpPr>
        <p:spPr>
          <a:xfrm>
            <a:off x="2610052" y="155416"/>
            <a:ext cx="2592288" cy="523220"/>
          </a:xfrm>
          <a:prstGeom prst="rect">
            <a:avLst/>
          </a:prstGeom>
          <a:noFill/>
        </p:spPr>
        <p:txBody>
          <a:bodyPr wrap="square" rtlCol="0">
            <a:spAutoFit/>
          </a:bodyPr>
          <a:lstStyle/>
          <a:p>
            <a:r>
              <a:rPr lang="en-US" sz="2800" b="1" i="1" u="sng" dirty="0">
                <a:solidFill>
                  <a:schemeClr val="accent1">
                    <a:lumMod val="60000"/>
                    <a:lumOff val="40000"/>
                  </a:schemeClr>
                </a:solidFill>
                <a:effectLst>
                  <a:outerShdw blurRad="38100" dist="38100" dir="2700000" algn="tl">
                    <a:srgbClr val="000000">
                      <a:alpha val="43137"/>
                    </a:srgbClr>
                  </a:outerShdw>
                </a:effectLst>
              </a:rPr>
              <a:t>Bar Plot</a:t>
            </a:r>
            <a:endParaRPr lang="en-IN" sz="2800" b="1" i="1" u="sng" dirty="0">
              <a:solidFill>
                <a:schemeClr val="accent1">
                  <a:lumMod val="60000"/>
                  <a:lumOff val="40000"/>
                </a:schemeClr>
              </a:solidFill>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2"/>
          <a:stretch>
            <a:fillRect/>
          </a:stretch>
        </p:blipFill>
        <p:spPr>
          <a:xfrm>
            <a:off x="5508104" y="155416"/>
            <a:ext cx="3513124" cy="2560542"/>
          </a:xfrm>
          <a:prstGeom prst="rect">
            <a:avLst/>
          </a:prstGeom>
        </p:spPr>
      </p:pic>
    </p:spTree>
    <p:extLst>
      <p:ext uri="{BB962C8B-B14F-4D97-AF65-F5344CB8AC3E}">
        <p14:creationId xmlns:p14="http://schemas.microsoft.com/office/powerpoint/2010/main" val="3163502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endParaRPr lang="en"/>
          </a:p>
        </p:txBody>
      </p:sp>
      <p:sp>
        <p:nvSpPr>
          <p:cNvPr id="5" name="Rectangle 4"/>
          <p:cNvSpPr/>
          <p:nvPr/>
        </p:nvSpPr>
        <p:spPr>
          <a:xfrm>
            <a:off x="453862" y="1347614"/>
            <a:ext cx="8377263" cy="3108543"/>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endParaRPr lang="en-IN" sz="1600" i="1" dirty="0">
              <a:latin typeface="Calibri" panose="020F0502020204030204" pitchFamily="34" charset="0"/>
              <a:cs typeface="Calibri" panose="020F0502020204030204" pitchFamily="34" charset="0"/>
            </a:endParaRPr>
          </a:p>
          <a:p>
            <a:r>
              <a:rPr lang="en-IN" sz="1200" i="1" dirty="0">
                <a:latin typeface="Calibri" panose="020F0502020204030204" pitchFamily="34" charset="0"/>
                <a:cs typeface="Calibri" panose="020F0502020204030204" pitchFamily="34" charset="0"/>
              </a:rPr>
              <a:t>A histogram plot is a graphical representation of the distribution of a continuous variable, where the data is divided into bins or intervals, and the height of each bar represents the frequency or count of data points within that bin.</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 histogram plot visualizes the distribution or frequency of values in a dataset, allowing for analysis of patterns, central tendency, and outliers in the data. It provides insights into the shape and spread of the variable being plotted.</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 histogram measures the frequency or count of data points within each bin or interval, providing information about the distribution and density of values in a dataset.</a:t>
            </a:r>
          </a:p>
          <a:p>
            <a:endParaRPr lang="en-US"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i="1" dirty="0">
                <a:latin typeface="Calibri" panose="020F0502020204030204" pitchFamily="34" charset="0"/>
                <a:cs typeface="Calibri" panose="020F0502020204030204" pitchFamily="34" charset="0"/>
              </a:rPr>
              <a:t>A histogram can be created using any source of data that provides numerical or continuous values, such as measurements, survey responses, or experimental results.</a:t>
            </a:r>
            <a:endParaRPr lang="en-IN" sz="1200" i="1" dirty="0">
              <a:latin typeface="Calibri" panose="020F0502020204030204" pitchFamily="34" charset="0"/>
              <a:cs typeface="Calibri" panose="020F0502020204030204" pitchFamily="34" charset="0"/>
            </a:endParaRPr>
          </a:p>
        </p:txBody>
      </p:sp>
      <p:sp>
        <p:nvSpPr>
          <p:cNvPr id="7" name="TextBox 6"/>
          <p:cNvSpPr txBox="1"/>
          <p:nvPr/>
        </p:nvSpPr>
        <p:spPr>
          <a:xfrm>
            <a:off x="1259632" y="426575"/>
            <a:ext cx="1800200" cy="523220"/>
          </a:xfrm>
          <a:prstGeom prst="rect">
            <a:avLst/>
          </a:prstGeom>
          <a:noFill/>
        </p:spPr>
        <p:txBody>
          <a:bodyPr wrap="square" rtlCol="0">
            <a:spAutoFit/>
          </a:bodyPr>
          <a:lstStyle/>
          <a:p>
            <a:r>
              <a:rPr lang="en-US" sz="2800" b="1" i="1" u="sng" dirty="0">
                <a:solidFill>
                  <a:schemeClr val="accent1">
                    <a:lumMod val="60000"/>
                    <a:lumOff val="4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Histogram</a:t>
            </a:r>
            <a:endParaRPr lang="en-IN" sz="2800" b="1" i="1" u="sng" dirty="0">
              <a:solidFill>
                <a:schemeClr val="accent1">
                  <a:lumMod val="60000"/>
                  <a:lumOff val="4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09446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2C3DE7-7E21-DCDF-9FDB-8ED3923295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11</a:t>
            </a:fld>
            <a:endParaRPr lang="e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3" y="1059582"/>
            <a:ext cx="8997971" cy="2629278"/>
          </a:xfrm>
          <a:prstGeom prst="rect">
            <a:avLst/>
          </a:prstGeom>
        </p:spPr>
      </p:pic>
    </p:spTree>
    <p:extLst>
      <p:ext uri="{BB962C8B-B14F-4D97-AF65-F5344CB8AC3E}">
        <p14:creationId xmlns:p14="http://schemas.microsoft.com/office/powerpoint/2010/main" val="17999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12</a:t>
            </a:fld>
            <a:endParaRPr lang="en"/>
          </a:p>
        </p:txBody>
      </p:sp>
      <p:sp>
        <p:nvSpPr>
          <p:cNvPr id="3" name="Rectangle 2"/>
          <p:cNvSpPr/>
          <p:nvPr/>
        </p:nvSpPr>
        <p:spPr>
          <a:xfrm>
            <a:off x="290662" y="832812"/>
            <a:ext cx="8233247" cy="3477875"/>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scatter plot is a type of data visualization that uses points</a:t>
            </a:r>
          </a:p>
          <a:p>
            <a:r>
              <a:rPr lang="en-US" sz="1200" i="1" dirty="0">
                <a:latin typeface="Calibri" panose="020F0502020204030204" pitchFamily="34" charset="0"/>
                <a:cs typeface="Calibri" panose="020F0502020204030204" pitchFamily="34" charset="0"/>
              </a:rPr>
              <a:t> to represent values for two different variables,</a:t>
            </a:r>
          </a:p>
          <a:p>
            <a:r>
              <a:rPr lang="en-US" sz="1200" i="1" dirty="0">
                <a:latin typeface="Calibri" panose="020F0502020204030204" pitchFamily="34" charset="0"/>
                <a:cs typeface="Calibri" panose="020F0502020204030204" pitchFamily="34" charset="0"/>
              </a:rPr>
              <a:t> with one variable plotted on the x-axis and the other on the y-axis.</a:t>
            </a:r>
          </a:p>
          <a:p>
            <a:endParaRPr lang="en-IN" sz="1200" i="1" dirty="0">
              <a:latin typeface="Calibri" panose="020F0502020204030204" pitchFamily="34" charset="0"/>
              <a:cs typeface="Calibri" panose="020F0502020204030204" pitchFamily="34" charset="0"/>
            </a:endParaRPr>
          </a:p>
          <a:p>
            <a:r>
              <a:rPr lang="en-IN" sz="1600" b="1" i="1" dirty="0"/>
              <a:t>What Does It Visualize?</a:t>
            </a:r>
          </a:p>
          <a:p>
            <a:r>
              <a:rPr lang="en-US" sz="1200" i="1" dirty="0"/>
              <a:t>A scatter plot visualizes the relationship or correlation </a:t>
            </a:r>
          </a:p>
          <a:p>
            <a:r>
              <a:rPr lang="en-US" sz="1200" i="1" dirty="0"/>
              <a:t>between two variables by displaying the distribution and clustering of data points on a two-dimensional graph.</a:t>
            </a:r>
          </a:p>
          <a:p>
            <a:endParaRPr lang="en-IN" sz="1200" i="1" dirty="0"/>
          </a:p>
          <a:p>
            <a:r>
              <a:rPr lang="en-IN" sz="1600" b="1" i="1" dirty="0"/>
              <a:t>What Does It Measure?</a:t>
            </a:r>
          </a:p>
          <a:p>
            <a:r>
              <a:rPr lang="en-US" sz="1200" i="1" dirty="0"/>
              <a:t>A scatter plot measures the values or measurements of two variables and shows how they are related or interact with each other. It helps to identify patterns, trends, or correlations between the variables.</a:t>
            </a:r>
          </a:p>
          <a:p>
            <a:endParaRPr lang="en-IN" sz="1200" i="1" dirty="0"/>
          </a:p>
          <a:p>
            <a:r>
              <a:rPr lang="en-US" sz="1600" b="1" i="1" dirty="0"/>
              <a:t>What Sources of Data Does It Use?</a:t>
            </a:r>
          </a:p>
          <a:p>
            <a:r>
              <a:rPr lang="en-US" sz="1200" i="1" dirty="0">
                <a:latin typeface="Calibri" panose="020F0502020204030204" pitchFamily="34" charset="0"/>
                <a:cs typeface="Calibri" panose="020F0502020204030204" pitchFamily="34" charset="0"/>
              </a:rPr>
              <a:t>A scatter plot can utilize any type of data source, </a:t>
            </a:r>
          </a:p>
          <a:p>
            <a:r>
              <a:rPr lang="en-US" sz="1200" i="1" dirty="0">
                <a:latin typeface="Calibri" panose="020F0502020204030204" pitchFamily="34" charset="0"/>
                <a:cs typeface="Calibri" panose="020F0502020204030204" pitchFamily="34" charset="0"/>
              </a:rPr>
              <a:t>such as numerical, categorical, or ordinal data,</a:t>
            </a:r>
          </a:p>
          <a:p>
            <a:r>
              <a:rPr lang="en-US" sz="1200" i="1" dirty="0">
                <a:latin typeface="Calibri" panose="020F0502020204030204" pitchFamily="34" charset="0"/>
                <a:cs typeface="Calibri" panose="020F0502020204030204" pitchFamily="34" charset="0"/>
              </a:rPr>
              <a:t> to represent the relationship between two variables.</a:t>
            </a:r>
            <a:endParaRPr lang="en-IN" sz="1200" i="1"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84" y="3219822"/>
            <a:ext cx="3563888" cy="1506233"/>
          </a:xfrm>
          <a:prstGeom prst="rect">
            <a:avLst/>
          </a:prstGeom>
        </p:spPr>
      </p:pic>
      <p:sp>
        <p:nvSpPr>
          <p:cNvPr id="5" name="TextBox 4"/>
          <p:cNvSpPr txBox="1"/>
          <p:nvPr/>
        </p:nvSpPr>
        <p:spPr>
          <a:xfrm>
            <a:off x="1691680" y="150703"/>
            <a:ext cx="2376264" cy="523220"/>
          </a:xfrm>
          <a:prstGeom prst="rect">
            <a:avLst/>
          </a:prstGeom>
          <a:noFill/>
        </p:spPr>
        <p:txBody>
          <a:bodyPr wrap="square" rtlCol="0">
            <a:spAutoFit/>
          </a:bodyPr>
          <a:lstStyle/>
          <a:p>
            <a:r>
              <a:rPr lang="en-US" sz="2800" b="1" i="1" u="sng" dirty="0">
                <a:solidFill>
                  <a:schemeClr val="accent1">
                    <a:lumMod val="60000"/>
                    <a:lumOff val="40000"/>
                  </a:schemeClr>
                </a:solidFill>
                <a:effectLst>
                  <a:outerShdw blurRad="38100" dist="38100" dir="2700000" algn="tl">
                    <a:srgbClr val="000000">
                      <a:alpha val="43137"/>
                    </a:srgbClr>
                  </a:outerShdw>
                </a:effectLst>
              </a:rPr>
              <a:t>Scatter plot</a:t>
            </a:r>
            <a:endParaRPr lang="en-IN" sz="2800" b="1" i="1" u="sng" dirty="0">
              <a:solidFill>
                <a:schemeClr val="accent1">
                  <a:lumMod val="60000"/>
                  <a:lumOff val="40000"/>
                </a:schemeClr>
              </a:solidFill>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3"/>
          <a:stretch>
            <a:fillRect/>
          </a:stretch>
        </p:blipFill>
        <p:spPr>
          <a:xfrm>
            <a:off x="4644008" y="145381"/>
            <a:ext cx="2944148" cy="2111742"/>
          </a:xfrm>
          <a:prstGeom prst="rect">
            <a:avLst/>
          </a:prstGeom>
        </p:spPr>
      </p:pic>
    </p:spTree>
    <p:extLst>
      <p:ext uri="{BB962C8B-B14F-4D97-AF65-F5344CB8AC3E}">
        <p14:creationId xmlns:p14="http://schemas.microsoft.com/office/powerpoint/2010/main" val="2443519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78B2E1-BC29-D0A9-57C7-D11BF90EE0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13</a:t>
            </a:fld>
            <a:endParaRPr lang="en"/>
          </a:p>
        </p:txBody>
      </p:sp>
    </p:spTree>
    <p:extLst>
      <p:ext uri="{BB962C8B-B14F-4D97-AF65-F5344CB8AC3E}">
        <p14:creationId xmlns:p14="http://schemas.microsoft.com/office/powerpoint/2010/main" val="2281011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14</a:t>
            </a:fld>
            <a:endParaRPr lang="en"/>
          </a:p>
        </p:txBody>
      </p:sp>
      <p:sp>
        <p:nvSpPr>
          <p:cNvPr id="3" name="Rectangle 2"/>
          <p:cNvSpPr/>
          <p:nvPr/>
        </p:nvSpPr>
        <p:spPr>
          <a:xfrm>
            <a:off x="179512" y="915566"/>
            <a:ext cx="7873207" cy="3477875"/>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a:t>
            </a:r>
            <a:r>
              <a:rPr lang="en-US" sz="1200" i="1" dirty="0" err="1">
                <a:latin typeface="Calibri" panose="020F0502020204030204" pitchFamily="34" charset="0"/>
                <a:cs typeface="Calibri" panose="020F0502020204030204" pitchFamily="34" charset="0"/>
              </a:rPr>
              <a:t>heatmap</a:t>
            </a:r>
            <a:r>
              <a:rPr lang="en-US" sz="1200" i="1" dirty="0">
                <a:latin typeface="Calibri" panose="020F0502020204030204" pitchFamily="34" charset="0"/>
                <a:cs typeface="Calibri" panose="020F0502020204030204" pitchFamily="34" charset="0"/>
              </a:rPr>
              <a:t> is a graphical representation </a:t>
            </a:r>
          </a:p>
          <a:p>
            <a:r>
              <a:rPr lang="en-US" sz="1200" i="1" dirty="0">
                <a:latin typeface="Calibri" panose="020F0502020204030204" pitchFamily="34" charset="0"/>
                <a:cs typeface="Calibri" panose="020F0502020204030204" pitchFamily="34" charset="0"/>
              </a:rPr>
              <a:t>that uses colors to depict the intensity or density of values</a:t>
            </a:r>
          </a:p>
          <a:p>
            <a:r>
              <a:rPr lang="en-US" sz="1200" i="1" dirty="0">
                <a:latin typeface="Calibri" panose="020F0502020204030204" pitchFamily="34" charset="0"/>
                <a:cs typeface="Calibri" panose="020F0502020204030204" pitchFamily="34" charset="0"/>
              </a:rPr>
              <a:t> within a matrix or grid-like data structure.</a:t>
            </a:r>
          </a:p>
          <a:p>
            <a:endParaRPr lang="en-IN" sz="1200" i="1" dirty="0">
              <a:latin typeface="Calibri" panose="020F0502020204030204" pitchFamily="34" charset="0"/>
              <a:cs typeface="Calibri" panose="020F0502020204030204" pitchFamily="34" charset="0"/>
            </a:endParaRPr>
          </a:p>
          <a:p>
            <a:r>
              <a:rPr lang="en-IN" sz="1600" b="1" i="1" dirty="0"/>
              <a:t>What Does It Visualize?</a:t>
            </a:r>
          </a:p>
          <a:p>
            <a:r>
              <a:rPr lang="en-US" sz="1200" i="1" dirty="0"/>
              <a:t>A </a:t>
            </a:r>
            <a:r>
              <a:rPr lang="en-US" sz="1200" i="1" dirty="0" err="1"/>
              <a:t>heatmap</a:t>
            </a:r>
            <a:r>
              <a:rPr lang="en-US" sz="1200" i="1" dirty="0"/>
              <a:t> visualizes the relative magnitude or distribution of values across two dimensions, typically representing data in a matrix or table format. It highlights patterns, clusters, or variations in the data by using color gradients.</a:t>
            </a:r>
          </a:p>
          <a:p>
            <a:endParaRPr lang="en-IN" sz="1200" i="1" dirty="0"/>
          </a:p>
          <a:p>
            <a:r>
              <a:rPr lang="en-IN" sz="1600" b="1" i="1" dirty="0"/>
              <a:t>What Does It Measure?</a:t>
            </a:r>
          </a:p>
          <a:p>
            <a:r>
              <a:rPr lang="en-US" sz="1200" i="1" dirty="0"/>
              <a:t>A </a:t>
            </a:r>
            <a:r>
              <a:rPr lang="en-US" sz="1200" i="1" dirty="0" err="1"/>
              <a:t>heatmap</a:t>
            </a:r>
            <a:r>
              <a:rPr lang="en-US" sz="1200" i="1" dirty="0"/>
              <a:t> measures the intensity, frequency, or density of values within a matrix or grid, providing insight into the distribution or concentration of data across different categories or variables. It allows for the identification of trends, relationships, or patterns within the data.</a:t>
            </a:r>
          </a:p>
          <a:p>
            <a:endParaRPr lang="en-IN" sz="1200" i="1" dirty="0"/>
          </a:p>
          <a:p>
            <a:r>
              <a:rPr lang="en-US" sz="1600" b="1" i="1" dirty="0"/>
              <a:t>What Sources of Data Does It Use?</a:t>
            </a:r>
          </a:p>
          <a:p>
            <a:r>
              <a:rPr lang="en-US" sz="1200" i="1" dirty="0">
                <a:latin typeface="Calibri" panose="020F0502020204030204" pitchFamily="34" charset="0"/>
                <a:cs typeface="Calibri" panose="020F0502020204030204" pitchFamily="34" charset="0"/>
              </a:rPr>
              <a:t>A </a:t>
            </a:r>
            <a:r>
              <a:rPr lang="en-US" sz="1200" i="1" dirty="0" err="1">
                <a:latin typeface="Calibri" panose="020F0502020204030204" pitchFamily="34" charset="0"/>
                <a:cs typeface="Calibri" panose="020F0502020204030204" pitchFamily="34" charset="0"/>
              </a:rPr>
              <a:t>heatmap</a:t>
            </a:r>
            <a:r>
              <a:rPr lang="en-US" sz="1200" i="1" dirty="0">
                <a:latin typeface="Calibri" panose="020F0502020204030204" pitchFamily="34" charset="0"/>
                <a:cs typeface="Calibri" panose="020F0502020204030204" pitchFamily="34" charset="0"/>
              </a:rPr>
              <a:t> can utilize various sources of data, including numerical data, categorical data, or any other type of data that can be represented in a matrix or grid format.</a:t>
            </a:r>
            <a:endParaRPr lang="en-IN" sz="1200" i="1"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4572000" y="189436"/>
            <a:ext cx="3336703" cy="1943484"/>
          </a:xfrm>
          <a:prstGeom prst="rect">
            <a:avLst/>
          </a:prstGeom>
        </p:spPr>
      </p:pic>
      <p:sp>
        <p:nvSpPr>
          <p:cNvPr id="6" name="TextBox 5"/>
          <p:cNvSpPr txBox="1"/>
          <p:nvPr/>
        </p:nvSpPr>
        <p:spPr>
          <a:xfrm>
            <a:off x="1907704" y="189436"/>
            <a:ext cx="3024336" cy="523220"/>
          </a:xfrm>
          <a:prstGeom prst="rect">
            <a:avLst/>
          </a:prstGeom>
          <a:noFill/>
        </p:spPr>
        <p:txBody>
          <a:bodyPr wrap="square" rtlCol="0">
            <a:spAutoFit/>
          </a:bodyPr>
          <a:lstStyle/>
          <a:p>
            <a:r>
              <a:rPr lang="en-US" sz="2800" b="1" i="1" u="sng" dirty="0" err="1">
                <a:solidFill>
                  <a:schemeClr val="accent1">
                    <a:lumMod val="60000"/>
                    <a:lumOff val="40000"/>
                  </a:schemeClr>
                </a:solidFill>
                <a:effectLst>
                  <a:outerShdw blurRad="38100" dist="38100" dir="2700000" algn="tl">
                    <a:srgbClr val="000000">
                      <a:alpha val="43137"/>
                    </a:srgbClr>
                  </a:outerShdw>
                </a:effectLst>
              </a:rPr>
              <a:t>Heatmap</a:t>
            </a:r>
            <a:endParaRPr lang="en-IN" sz="2800" b="1" i="1" u="sng" dirty="0">
              <a:solidFill>
                <a:schemeClr val="accent1">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577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15</a:t>
            </a:fld>
            <a:endParaRPr lang="en"/>
          </a:p>
        </p:txBody>
      </p:sp>
      <p:sp>
        <p:nvSpPr>
          <p:cNvPr id="3" name="Rectangle 2"/>
          <p:cNvSpPr/>
          <p:nvPr/>
        </p:nvSpPr>
        <p:spPr>
          <a:xfrm>
            <a:off x="395536" y="987574"/>
            <a:ext cx="7488832" cy="3477875"/>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line plot is a type of data visualization that represents  </a:t>
            </a:r>
          </a:p>
          <a:p>
            <a:r>
              <a:rPr lang="en-US" sz="1200" i="1" dirty="0">
                <a:latin typeface="Calibri" panose="020F0502020204030204" pitchFamily="34" charset="0"/>
                <a:cs typeface="Calibri" panose="020F0502020204030204" pitchFamily="34" charset="0"/>
              </a:rPr>
              <a:t>the series of data points as connected line segments</a:t>
            </a:r>
          </a:p>
          <a:p>
            <a:r>
              <a:rPr lang="en-US" sz="1200" i="1" dirty="0">
                <a:latin typeface="Calibri" panose="020F0502020204030204" pitchFamily="34" charset="0"/>
                <a:cs typeface="Calibri" panose="020F0502020204030204" pitchFamily="34" charset="0"/>
              </a:rPr>
              <a:t> to show the trend or change in values over a continuous variable, </a:t>
            </a:r>
          </a:p>
          <a:p>
            <a:r>
              <a:rPr lang="en-US" sz="1200" i="1" dirty="0">
                <a:latin typeface="Calibri" panose="020F0502020204030204" pitchFamily="34" charset="0"/>
                <a:cs typeface="Calibri" panose="020F0502020204030204" pitchFamily="34" charset="0"/>
              </a:rPr>
              <a:t>typically plotted on the x-axis.</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 line plot visualizes the relationship between two variables by displaying the trend or change in values over a continuous variable, showing the progression or pattern of data points through connected line segments.</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dirty="0"/>
              <a:t>A line plot measures the values or measurements of a dependent variable along a continuous axis, how the values of the dependent variable change or vary with respect to the independent variable.</a:t>
            </a:r>
            <a:endParaRPr lang="en-US" sz="1200" i="1" dirty="0">
              <a:latin typeface="Calibri" panose="020F0502020204030204" pitchFamily="34" charset="0"/>
              <a:cs typeface="Calibri" panose="020F0502020204030204" pitchFamily="34" charset="0"/>
            </a:endParaRP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 line plot can use various sources of data, including numerical data, time-series data, or any other type of data where there is a continuous variable to be plotted on the x-axis and corresponding values to be plotted on the y-axis.</a:t>
            </a:r>
            <a:endParaRPr lang="en-IN" sz="1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032" y="87474"/>
            <a:ext cx="3715264" cy="2232248"/>
          </a:xfrm>
          <a:prstGeom prst="rect">
            <a:avLst/>
          </a:prstGeom>
        </p:spPr>
      </p:pic>
      <p:sp>
        <p:nvSpPr>
          <p:cNvPr id="5" name="TextBox 4"/>
          <p:cNvSpPr txBox="1"/>
          <p:nvPr/>
        </p:nvSpPr>
        <p:spPr>
          <a:xfrm>
            <a:off x="1979712" y="324984"/>
            <a:ext cx="2304256" cy="523220"/>
          </a:xfrm>
          <a:prstGeom prst="rect">
            <a:avLst/>
          </a:prstGeom>
          <a:noFill/>
        </p:spPr>
        <p:txBody>
          <a:bodyPr wrap="square" rtlCol="0">
            <a:spAutoFit/>
          </a:bodyPr>
          <a:lstStyle/>
          <a:p>
            <a:r>
              <a:rPr lang="en-US" sz="2800" b="1" i="1" u="sng" dirty="0">
                <a:solidFill>
                  <a:schemeClr val="accent1">
                    <a:lumMod val="60000"/>
                    <a:lumOff val="40000"/>
                  </a:schemeClr>
                </a:solidFill>
                <a:effectLst>
                  <a:outerShdw blurRad="38100" dist="38100" dir="2700000" algn="tl">
                    <a:srgbClr val="000000">
                      <a:alpha val="43137"/>
                    </a:srgbClr>
                  </a:outerShdw>
                </a:effectLst>
              </a:rPr>
              <a:t>Line plot</a:t>
            </a:r>
            <a:endParaRPr lang="en-IN" sz="2800" b="1" i="1" u="sng" dirty="0">
              <a:solidFill>
                <a:schemeClr val="accent1">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406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16</a:t>
            </a:fld>
            <a:endParaRPr lang="en"/>
          </a:p>
        </p:txBody>
      </p:sp>
      <p:sp>
        <p:nvSpPr>
          <p:cNvPr id="3" name="Rectangle 2"/>
          <p:cNvSpPr/>
          <p:nvPr/>
        </p:nvSpPr>
        <p:spPr>
          <a:xfrm>
            <a:off x="179512" y="622078"/>
            <a:ext cx="8515204" cy="3847207"/>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violin plot is a data visualization that combines a box plot and </a:t>
            </a:r>
          </a:p>
          <a:p>
            <a:r>
              <a:rPr lang="en-US" sz="1200" i="1" dirty="0">
                <a:latin typeface="Calibri" panose="020F0502020204030204" pitchFamily="34" charset="0"/>
                <a:cs typeface="Calibri" panose="020F0502020204030204" pitchFamily="34" charset="0"/>
              </a:rPr>
              <a:t>a kernel density plot to display the distribution of a continuous variable </a:t>
            </a:r>
          </a:p>
          <a:p>
            <a:r>
              <a:rPr lang="en-US" sz="1200" i="1" dirty="0">
                <a:latin typeface="Calibri" panose="020F0502020204030204" pitchFamily="34" charset="0"/>
                <a:cs typeface="Calibri" panose="020F0502020204030204" pitchFamily="34" charset="0"/>
              </a:rPr>
              <a:t>across different groups, using violin-shaped representations. It provides a concise and</a:t>
            </a:r>
          </a:p>
          <a:p>
            <a:r>
              <a:rPr lang="en-US" sz="1200" i="1" dirty="0">
                <a:latin typeface="Calibri" panose="020F0502020204030204" pitchFamily="34" charset="0"/>
                <a:cs typeface="Calibri" panose="020F0502020204030204" pitchFamily="34" charset="0"/>
              </a:rPr>
              <a:t> informative summary of the data's distribution and group comparisons.</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 violin plot visualizes the distribution of a continuous variable across different groups or categories, displaying information such as the shape, symmetry, and density of the data, as well as summary statistics like medians and quartiles.</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 violin plot does not measure anything directly. Instead, it represents and displays the distribution of a continuous variable, allowing us to observe characteristics such as central tendency, spread, </a:t>
            </a:r>
            <a:r>
              <a:rPr lang="en-US" sz="1200" i="1" dirty="0" err="1">
                <a:latin typeface="Calibri" panose="020F0502020204030204" pitchFamily="34" charset="0"/>
                <a:cs typeface="Calibri" panose="020F0502020204030204" pitchFamily="34" charset="0"/>
              </a:rPr>
              <a:t>skewness</a:t>
            </a:r>
            <a:r>
              <a:rPr lang="en-US" sz="1200" i="1" dirty="0">
                <a:latin typeface="Calibri" panose="020F0502020204030204" pitchFamily="34" charset="0"/>
                <a:cs typeface="Calibri" panose="020F0502020204030204" pitchFamily="34" charset="0"/>
              </a:rPr>
              <a:t>, and multimodality across different groups or categories. It provides a visual representation of the data's distribution and facilitates comparisons between groups.</a:t>
            </a: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 violin plot uses numerical data, specifically continuous variables, to visualize the distribution across different groups or categories. It requires data that can be quantitatively measured and compared, such as numeric values (</a:t>
            </a:r>
            <a:r>
              <a:rPr lang="en-US" sz="1200" dirty="0"/>
              <a:t>temperature, height, weight, time), </a:t>
            </a:r>
            <a:r>
              <a:rPr lang="en-US" sz="1200" dirty="0">
                <a:latin typeface="Calibri" panose="020F0502020204030204" pitchFamily="34" charset="0"/>
                <a:cs typeface="Calibri" panose="020F0502020204030204" pitchFamily="34" charset="0"/>
              </a:rPr>
              <a:t>representing different groups or categories.</a:t>
            </a:r>
            <a:endParaRPr lang="en-IN" sz="1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5986045" y="51470"/>
            <a:ext cx="2845080" cy="2055726"/>
          </a:xfrm>
          <a:prstGeom prst="rect">
            <a:avLst/>
          </a:prstGeom>
        </p:spPr>
      </p:pic>
      <p:sp>
        <p:nvSpPr>
          <p:cNvPr id="5" name="TextBox 4"/>
          <p:cNvSpPr txBox="1"/>
          <p:nvPr/>
        </p:nvSpPr>
        <p:spPr>
          <a:xfrm>
            <a:off x="1907704" y="324563"/>
            <a:ext cx="2664296" cy="523220"/>
          </a:xfrm>
          <a:prstGeom prst="rect">
            <a:avLst/>
          </a:prstGeom>
          <a:noFill/>
        </p:spPr>
        <p:txBody>
          <a:bodyPr wrap="square" rtlCol="0">
            <a:spAutoFit/>
          </a:bodyPr>
          <a:lstStyle/>
          <a:p>
            <a:r>
              <a:rPr lang="en-US" sz="2800" b="1" i="1" u="sng" dirty="0">
                <a:solidFill>
                  <a:schemeClr val="accent1">
                    <a:lumMod val="60000"/>
                    <a:lumOff val="40000"/>
                  </a:schemeClr>
                </a:solidFill>
                <a:effectLst>
                  <a:outerShdw blurRad="38100" dist="38100" dir="2700000" algn="tl">
                    <a:srgbClr val="000000">
                      <a:alpha val="43137"/>
                    </a:srgbClr>
                  </a:outerShdw>
                </a:effectLst>
              </a:rPr>
              <a:t>Violin plot</a:t>
            </a:r>
            <a:endParaRPr lang="en-IN" sz="2800" b="1" i="1" u="sng" dirty="0">
              <a:solidFill>
                <a:schemeClr val="accent1">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507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17</a:t>
            </a:fld>
            <a:endParaRPr lang="en"/>
          </a:p>
        </p:txBody>
      </p:sp>
      <p:sp>
        <p:nvSpPr>
          <p:cNvPr id="3" name="Rectangle 2"/>
          <p:cNvSpPr/>
          <p:nvPr/>
        </p:nvSpPr>
        <p:spPr>
          <a:xfrm>
            <a:off x="184241" y="520688"/>
            <a:ext cx="8712968" cy="3847207"/>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pie chart is a circular graphical representation that divides a dataset into slices or sectors.</a:t>
            </a:r>
          </a:p>
          <a:p>
            <a:r>
              <a:rPr lang="en-US" sz="1200" i="1" dirty="0">
                <a:latin typeface="Calibri" panose="020F0502020204030204" pitchFamily="34" charset="0"/>
                <a:cs typeface="Calibri" panose="020F0502020204030204" pitchFamily="34" charset="0"/>
              </a:rPr>
              <a:t> Each slice represents a category or proportion of the whole, and the size of the slice</a:t>
            </a:r>
          </a:p>
          <a:p>
            <a:r>
              <a:rPr lang="en-US" sz="1200" i="1" dirty="0">
                <a:latin typeface="Calibri" panose="020F0502020204030204" pitchFamily="34" charset="0"/>
                <a:cs typeface="Calibri" panose="020F0502020204030204" pitchFamily="34" charset="0"/>
              </a:rPr>
              <a:t> corresponds to the relative magnitude or percentage it represents.</a:t>
            </a:r>
          </a:p>
          <a:p>
            <a:r>
              <a:rPr lang="en-US" sz="1200" i="1" dirty="0">
                <a:latin typeface="Calibri" panose="020F0502020204030204" pitchFamily="34" charset="0"/>
                <a:cs typeface="Calibri" panose="020F0502020204030204" pitchFamily="34" charset="0"/>
              </a:rPr>
              <a:t> It is commonly used to display the composition or distribution of categorical data.</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 pie chart visualizes the relative proportions or percentages of different categories within a dataset, providing a quick and intuitive understanding of the composition or distribution of the data. It allows for easy comparison of the sizes or contributions of different categories to the whole.</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 pie chart measures the relative frequencies, proportions, or percentages of different categories within a dataset. It quantifies the distribution or composition of data and enables comparison of the magnitudes or contributions of each category to the whole.</a:t>
            </a: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 pie chart can use categorical data or data that can be grouped into distinct categories. It is particularly suitable for visualizing data where the categories and their proportions or frequencies are known. Examples of data sources that can be used for a pie chart include survey responses, market share data, demographic data, or any dataset that can be categorized.</a:t>
            </a:r>
            <a:endParaRPr lang="en-IN" sz="1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654" y="123478"/>
            <a:ext cx="2866826" cy="1859563"/>
          </a:xfrm>
          <a:prstGeom prst="rect">
            <a:avLst/>
          </a:prstGeom>
        </p:spPr>
      </p:pic>
      <p:sp>
        <p:nvSpPr>
          <p:cNvPr id="5" name="TextBox 4"/>
          <p:cNvSpPr txBox="1"/>
          <p:nvPr/>
        </p:nvSpPr>
        <p:spPr>
          <a:xfrm>
            <a:off x="2627784" y="257912"/>
            <a:ext cx="2520280" cy="523220"/>
          </a:xfrm>
          <a:prstGeom prst="rect">
            <a:avLst/>
          </a:prstGeom>
          <a:noFill/>
        </p:spPr>
        <p:txBody>
          <a:bodyPr wrap="square" rtlCol="0">
            <a:spAutoFit/>
          </a:bodyPr>
          <a:lstStyle/>
          <a:p>
            <a:r>
              <a:rPr lang="en-IN" sz="2800" b="1" i="1" u="sng" dirty="0">
                <a:solidFill>
                  <a:schemeClr val="accent1">
                    <a:lumMod val="60000"/>
                    <a:lumOff val="40000"/>
                  </a:schemeClr>
                </a:solidFill>
                <a:effectLst>
                  <a:outerShdw blurRad="38100" dist="38100" dir="2700000" algn="tl">
                    <a:srgbClr val="000000">
                      <a:alpha val="43137"/>
                    </a:srgbClr>
                  </a:outerShdw>
                </a:effectLst>
              </a:rPr>
              <a:t>Pie chart</a:t>
            </a:r>
          </a:p>
        </p:txBody>
      </p:sp>
    </p:spTree>
    <p:extLst>
      <p:ext uri="{BB962C8B-B14F-4D97-AF65-F5344CB8AC3E}">
        <p14:creationId xmlns:p14="http://schemas.microsoft.com/office/powerpoint/2010/main" val="1317247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18</a:t>
            </a:fld>
            <a:endParaRPr lang="en"/>
          </a:p>
        </p:txBody>
      </p:sp>
      <p:sp>
        <p:nvSpPr>
          <p:cNvPr id="3" name="Rectangle 2"/>
          <p:cNvSpPr/>
          <p:nvPr/>
        </p:nvSpPr>
        <p:spPr>
          <a:xfrm>
            <a:off x="107504" y="339502"/>
            <a:ext cx="8856984" cy="4031873"/>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In the same way that a line chart presents data graphically by connecting each point with a line, an area chart does the same. However, it is more dynamic and visual, providing a sense of relative mass. The region underneath the jagged peaks generated by the line is </a:t>
            </a:r>
            <a:r>
              <a:rPr lang="en-US" sz="1200" i="1" dirty="0" err="1">
                <a:latin typeface="Calibri" panose="020F0502020204030204" pitchFamily="34" charset="0"/>
                <a:cs typeface="Calibri" panose="020F0502020204030204" pitchFamily="34" charset="0"/>
              </a:rPr>
              <a:t>coloured</a:t>
            </a:r>
            <a:r>
              <a:rPr lang="en-US" sz="1200" i="1" dirty="0">
                <a:latin typeface="Calibri" panose="020F0502020204030204" pitchFamily="34" charset="0"/>
                <a:cs typeface="Calibri" panose="020F0502020204030204" pitchFamily="34" charset="0"/>
              </a:rPr>
              <a:t>, giving the impression of a mountain range.</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An area chart visualizes the magnitude and proportion of multiple variables</a:t>
            </a:r>
          </a:p>
          <a:p>
            <a:r>
              <a:rPr lang="en-US" sz="1200" i="1" dirty="0">
                <a:latin typeface="Calibri" panose="020F0502020204030204" pitchFamily="34" charset="0"/>
                <a:cs typeface="Calibri" panose="020F0502020204030204" pitchFamily="34" charset="0"/>
              </a:rPr>
              <a:t> or categories over a continuous range. It shows how the values of these variables</a:t>
            </a:r>
          </a:p>
          <a:p>
            <a:r>
              <a:rPr lang="en-US" sz="1200" i="1" dirty="0">
                <a:latin typeface="Calibri" panose="020F0502020204030204" pitchFamily="34" charset="0"/>
                <a:cs typeface="Calibri" panose="020F0502020204030204" pitchFamily="34" charset="0"/>
              </a:rPr>
              <a:t> change over the given range and allows for comparisons between them.</a:t>
            </a:r>
          </a:p>
          <a:p>
            <a:r>
              <a:rPr lang="en-US" sz="1200" i="1" dirty="0">
                <a:latin typeface="Calibri" panose="020F0502020204030204" pitchFamily="34" charset="0"/>
                <a:cs typeface="Calibri" panose="020F0502020204030204" pitchFamily="34" charset="0"/>
              </a:rPr>
              <a:t> The filled areas between the lines provide a visual representation of the relative</a:t>
            </a:r>
          </a:p>
          <a:p>
            <a:r>
              <a:rPr lang="en-US" sz="1200" i="1" dirty="0">
                <a:latin typeface="Calibri" panose="020F0502020204030204" pitchFamily="34" charset="0"/>
                <a:cs typeface="Calibri" panose="020F0502020204030204" pitchFamily="34" charset="0"/>
              </a:rPr>
              <a:t> contribution or distribution of each variable or category.</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An area chart measures the magnitude and proportion of multiple variables or categories over a continuous range, allowing for visual comparison of their values and distribution patterns. It provides a visual representation of the changing trends and relative contributions of the variables or categories being plotted.</a:t>
            </a: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An area chart can use various sources of data, including numerical data, time-series data, and categorical data, to visualize the magnitude and proportion of multiple variables or categories over a continuous range.</a:t>
            </a:r>
            <a:endParaRPr lang="en-IN" sz="1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5401828" y="123478"/>
            <a:ext cx="3429297" cy="2408129"/>
          </a:xfrm>
          <a:prstGeom prst="rect">
            <a:avLst/>
          </a:prstGeom>
        </p:spPr>
      </p:pic>
      <p:sp>
        <p:nvSpPr>
          <p:cNvPr id="5" name="TextBox 4"/>
          <p:cNvSpPr txBox="1"/>
          <p:nvPr/>
        </p:nvSpPr>
        <p:spPr>
          <a:xfrm>
            <a:off x="2267744" y="-30120"/>
            <a:ext cx="2952328" cy="523220"/>
          </a:xfrm>
          <a:prstGeom prst="rect">
            <a:avLst/>
          </a:prstGeom>
          <a:noFill/>
        </p:spPr>
        <p:txBody>
          <a:bodyPr wrap="square" rtlCol="0">
            <a:spAutoFit/>
          </a:bodyPr>
          <a:lstStyle/>
          <a:p>
            <a:r>
              <a:rPr lang="en-US" sz="2800" b="1" i="1" u="sng" dirty="0">
                <a:solidFill>
                  <a:schemeClr val="accent1">
                    <a:lumMod val="60000"/>
                    <a:lumOff val="40000"/>
                  </a:schemeClr>
                </a:solidFill>
                <a:effectLst>
                  <a:outerShdw blurRad="38100" dist="38100" dir="2700000" algn="tl">
                    <a:srgbClr val="000000">
                      <a:alpha val="43137"/>
                    </a:srgbClr>
                  </a:outerShdw>
                </a:effectLst>
              </a:rPr>
              <a:t>Area chart</a:t>
            </a:r>
            <a:endParaRPr lang="en-IN" sz="2800" b="1" i="1" u="sng" dirty="0">
              <a:solidFill>
                <a:schemeClr val="accent1">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5426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19</a:t>
            </a:fld>
            <a:endParaRPr lang="en"/>
          </a:p>
        </p:txBody>
      </p:sp>
      <p:sp>
        <p:nvSpPr>
          <p:cNvPr id="3" name="Rectangle 2"/>
          <p:cNvSpPr/>
          <p:nvPr/>
        </p:nvSpPr>
        <p:spPr>
          <a:xfrm>
            <a:off x="395536" y="771550"/>
            <a:ext cx="8496944" cy="3108543"/>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box plot is a statistical visualization that summarizes the distribution of a continuous variable ,It displays the five-number summary</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 box plot visualizes the summary statistics of a continuous variable, such as the minimum, maximum, median, and quartiles. It provides a visual representation of the distribution, spread, and </a:t>
            </a:r>
            <a:r>
              <a:rPr lang="en-US" sz="1200" i="1" dirty="0" err="1">
                <a:latin typeface="Calibri" panose="020F0502020204030204" pitchFamily="34" charset="0"/>
                <a:cs typeface="Calibri" panose="020F0502020204030204" pitchFamily="34" charset="0"/>
              </a:rPr>
              <a:t>skewness</a:t>
            </a:r>
            <a:r>
              <a:rPr lang="en-US" sz="1200" i="1" dirty="0">
                <a:latin typeface="Calibri" panose="020F0502020204030204" pitchFamily="34" charset="0"/>
                <a:cs typeface="Calibri" panose="020F0502020204030204" pitchFamily="34" charset="0"/>
              </a:rPr>
              <a:t> of the data, along with identifying any potential outliers.</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 box plot measures the central tendency, variability, and distribution of a continuous variable. It quantifies the minimum, maximum, quartiles, and potential outliers, providing statistical measures to understand the characteristics of the data.</a:t>
            </a: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 box plot can be used with any dataset that includes numerical or continuous data. It is commonly employed in various fields, including statistics, finance, social sciences, and healthcare. The data can come from experimental studies, survey responses, sensor readings, or any other source that provides quantitative measurements.</a:t>
            </a:r>
            <a:endParaRPr lang="en-IN" sz="1200" dirty="0">
              <a:latin typeface="Calibri" panose="020F0502020204030204" pitchFamily="34" charset="0"/>
              <a:cs typeface="Calibri" panose="020F0502020204030204" pitchFamily="34" charset="0"/>
            </a:endParaRPr>
          </a:p>
        </p:txBody>
      </p:sp>
      <p:sp>
        <p:nvSpPr>
          <p:cNvPr id="5" name="TextBox 4"/>
          <p:cNvSpPr txBox="1"/>
          <p:nvPr/>
        </p:nvSpPr>
        <p:spPr>
          <a:xfrm>
            <a:off x="3203848" y="234580"/>
            <a:ext cx="1800200" cy="523220"/>
          </a:xfrm>
          <a:prstGeom prst="rect">
            <a:avLst/>
          </a:prstGeom>
          <a:noFill/>
        </p:spPr>
        <p:txBody>
          <a:bodyPr wrap="square" rtlCol="0">
            <a:spAutoFit/>
          </a:bodyPr>
          <a:lstStyle/>
          <a:p>
            <a:r>
              <a:rPr lang="en-IN" sz="2800" b="1" i="1" u="sng" dirty="0">
                <a:solidFill>
                  <a:schemeClr val="accent1">
                    <a:lumMod val="60000"/>
                    <a:lumOff val="4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Box plot</a:t>
            </a:r>
          </a:p>
        </p:txBody>
      </p:sp>
    </p:spTree>
    <p:extLst>
      <p:ext uri="{BB962C8B-B14F-4D97-AF65-F5344CB8AC3E}">
        <p14:creationId xmlns:p14="http://schemas.microsoft.com/office/powerpoint/2010/main" val="1273047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20</a:t>
            </a:fld>
            <a:endParaRPr lang="e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131590"/>
            <a:ext cx="3348260" cy="2321461"/>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928" y="947976"/>
            <a:ext cx="4514850" cy="2505075"/>
          </a:xfrm>
          <a:prstGeom prst="rect">
            <a:avLst/>
          </a:prstGeom>
        </p:spPr>
      </p:pic>
      <p:sp>
        <p:nvSpPr>
          <p:cNvPr id="5" name="TextBox 4"/>
          <p:cNvSpPr txBox="1"/>
          <p:nvPr/>
        </p:nvSpPr>
        <p:spPr>
          <a:xfrm>
            <a:off x="3203736" y="51470"/>
            <a:ext cx="1800200" cy="523220"/>
          </a:xfrm>
          <a:prstGeom prst="rect">
            <a:avLst/>
          </a:prstGeom>
          <a:noFill/>
        </p:spPr>
        <p:txBody>
          <a:bodyPr wrap="square" rtlCol="0">
            <a:spAutoFit/>
          </a:bodyPr>
          <a:lstStyle/>
          <a:p>
            <a:r>
              <a:rPr lang="en-IN" sz="2800" b="1" i="1" u="sng" dirty="0">
                <a:solidFill>
                  <a:schemeClr val="accent1">
                    <a:lumMod val="60000"/>
                    <a:lumOff val="4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Box plot</a:t>
            </a:r>
          </a:p>
        </p:txBody>
      </p:sp>
    </p:spTree>
    <p:extLst>
      <p:ext uri="{BB962C8B-B14F-4D97-AF65-F5344CB8AC3E}">
        <p14:creationId xmlns:p14="http://schemas.microsoft.com/office/powerpoint/2010/main" val="2045060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21</a:t>
            </a:fld>
            <a:endParaRPr lang="en"/>
          </a:p>
        </p:txBody>
      </p:sp>
      <p:sp>
        <p:nvSpPr>
          <p:cNvPr id="3" name="Rectangle 2"/>
          <p:cNvSpPr/>
          <p:nvPr/>
        </p:nvSpPr>
        <p:spPr>
          <a:xfrm>
            <a:off x="323528" y="555526"/>
            <a:ext cx="8640960" cy="4031873"/>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i="1" dirty="0">
                <a:latin typeface="Calibri" panose="020F0502020204030204" pitchFamily="34" charset="0"/>
                <a:cs typeface="Calibri" panose="020F0502020204030204" pitchFamily="34" charset="0"/>
              </a:rPr>
              <a:t>A </a:t>
            </a:r>
            <a:r>
              <a:rPr lang="en-US" sz="1200" i="1" dirty="0" err="1">
                <a:latin typeface="Calibri" panose="020F0502020204030204" pitchFamily="34" charset="0"/>
                <a:cs typeface="Calibri" panose="020F0502020204030204" pitchFamily="34" charset="0"/>
              </a:rPr>
              <a:t>treemap</a:t>
            </a:r>
            <a:r>
              <a:rPr lang="en-US" sz="1200" i="1" dirty="0">
                <a:latin typeface="Calibri" panose="020F0502020204030204" pitchFamily="34" charset="0"/>
                <a:cs typeface="Calibri" panose="020F0502020204030204" pitchFamily="34" charset="0"/>
              </a:rPr>
              <a:t> is a hierarchical visualization that represents hierarchical data using nested rectangles. Each rectangle represents a category, and its size is proportional to a specific value or metric, allowing for visual comparison of the relative magnitudes within the hierarchy. It is often used to display the composition or distribution of data in a space-efficient manner.</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i="1" dirty="0">
                <a:latin typeface="Calibri" panose="020F0502020204030204" pitchFamily="34" charset="0"/>
                <a:cs typeface="Calibri" panose="020F0502020204030204" pitchFamily="34" charset="0"/>
              </a:rPr>
              <a:t>A </a:t>
            </a:r>
            <a:r>
              <a:rPr lang="en-US" sz="1200" i="1" dirty="0" err="1">
                <a:latin typeface="Calibri" panose="020F0502020204030204" pitchFamily="34" charset="0"/>
                <a:cs typeface="Calibri" panose="020F0502020204030204" pitchFamily="34" charset="0"/>
              </a:rPr>
              <a:t>treemap</a:t>
            </a:r>
            <a:r>
              <a:rPr lang="en-US" sz="1200" i="1" dirty="0">
                <a:latin typeface="Calibri" panose="020F0502020204030204" pitchFamily="34" charset="0"/>
                <a:cs typeface="Calibri" panose="020F0502020204030204" pitchFamily="34" charset="0"/>
              </a:rPr>
              <a:t> visualizes hierarchical data by representing categories or groups as nested rectangles, with each rectangle's size reflecting a specific value or metric. It provides a visual representation of the composition and relative proportions within the hierarchy, allowing for easy comparison and understanding of the data distribution.</a:t>
            </a:r>
          </a:p>
          <a:p>
            <a:endParaRPr lang="en-US"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i="1" dirty="0">
                <a:latin typeface="Calibri" panose="020F0502020204030204" pitchFamily="34" charset="0"/>
                <a:cs typeface="Calibri" panose="020F0502020204030204" pitchFamily="34" charset="0"/>
              </a:rPr>
              <a:t>A </a:t>
            </a:r>
            <a:r>
              <a:rPr lang="en-US" sz="1200" i="1" dirty="0" err="1">
                <a:latin typeface="Calibri" panose="020F0502020204030204" pitchFamily="34" charset="0"/>
                <a:cs typeface="Calibri" panose="020F0502020204030204" pitchFamily="34" charset="0"/>
              </a:rPr>
              <a:t>treemap</a:t>
            </a:r>
            <a:r>
              <a:rPr lang="en-US" sz="1200" i="1" dirty="0">
                <a:latin typeface="Calibri" panose="020F0502020204030204" pitchFamily="34" charset="0"/>
                <a:cs typeface="Calibri" panose="020F0502020204030204" pitchFamily="34" charset="0"/>
              </a:rPr>
              <a:t> measures the relative proportions or magnitudes of different categories or groups within a hierarchical structure. It quantifies the distribution and composition of data based on the sizes of the nested rectangles, providing a visual representation of the hierarchical relationships and the metrics associated with each category or group.</a:t>
            </a: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 </a:t>
            </a:r>
            <a:r>
              <a:rPr lang="en-US" sz="1200" dirty="0" err="1">
                <a:latin typeface="Calibri" panose="020F0502020204030204" pitchFamily="34" charset="0"/>
                <a:cs typeface="Calibri" panose="020F0502020204030204" pitchFamily="34" charset="0"/>
              </a:rPr>
              <a:t>treemap</a:t>
            </a:r>
            <a:r>
              <a:rPr lang="en-US" sz="1200" dirty="0">
                <a:latin typeface="Calibri" panose="020F0502020204030204" pitchFamily="34" charset="0"/>
                <a:cs typeface="Calibri" panose="020F0502020204030204" pitchFamily="34" charset="0"/>
              </a:rPr>
              <a:t> can use hierarchical data from various sources such as organizational structures, file directories, financial portfolios, or any dataset that can be represented in a hierarchical format. </a:t>
            </a:r>
            <a:endParaRPr lang="en-IN" sz="1200" dirty="0">
              <a:latin typeface="Calibri" panose="020F0502020204030204" pitchFamily="34" charset="0"/>
              <a:cs typeface="Calibri" panose="020F0502020204030204" pitchFamily="34" charset="0"/>
            </a:endParaRPr>
          </a:p>
          <a:p>
            <a:endParaRPr lang="en-US" sz="1200" i="1" dirty="0">
              <a:latin typeface="Calibri" panose="020F0502020204030204" pitchFamily="34" charset="0"/>
              <a:cs typeface="Calibri" panose="020F0502020204030204" pitchFamily="34" charset="0"/>
            </a:endParaRPr>
          </a:p>
          <a:p>
            <a:endParaRPr lang="en-IN" sz="1200" i="1" dirty="0">
              <a:latin typeface="Calibri" panose="020F0502020204030204" pitchFamily="34" charset="0"/>
              <a:cs typeface="Calibri" panose="020F0502020204030204" pitchFamily="34" charset="0"/>
            </a:endParaRPr>
          </a:p>
        </p:txBody>
      </p:sp>
      <p:sp>
        <p:nvSpPr>
          <p:cNvPr id="4" name="TextBox 3"/>
          <p:cNvSpPr txBox="1"/>
          <p:nvPr/>
        </p:nvSpPr>
        <p:spPr>
          <a:xfrm>
            <a:off x="2267744" y="123478"/>
            <a:ext cx="2952328" cy="523220"/>
          </a:xfrm>
          <a:prstGeom prst="rect">
            <a:avLst/>
          </a:prstGeom>
          <a:noFill/>
        </p:spPr>
        <p:txBody>
          <a:bodyPr wrap="square" rtlCol="0">
            <a:spAutoFit/>
          </a:bodyPr>
          <a:lstStyle/>
          <a:p>
            <a:r>
              <a:rPr lang="en-IN" sz="2800" b="1" i="1" u="sng" dirty="0">
                <a:solidFill>
                  <a:schemeClr val="accent1">
                    <a:lumMod val="60000"/>
                    <a:lumOff val="40000"/>
                  </a:schemeClr>
                </a:solidFill>
                <a:effectLst>
                  <a:outerShdw blurRad="38100" dist="38100" dir="2700000" algn="tl">
                    <a:srgbClr val="000000">
                      <a:alpha val="43137"/>
                    </a:srgbClr>
                  </a:outerShdw>
                </a:effectLst>
              </a:rPr>
              <a:t>Tree map</a:t>
            </a:r>
          </a:p>
        </p:txBody>
      </p:sp>
    </p:spTree>
    <p:extLst>
      <p:ext uri="{BB962C8B-B14F-4D97-AF65-F5344CB8AC3E}">
        <p14:creationId xmlns:p14="http://schemas.microsoft.com/office/powerpoint/2010/main" val="1146336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22</a:t>
            </a:fld>
            <a:endParaRPr lang="en"/>
          </a:p>
        </p:txBody>
      </p:sp>
      <p:pic>
        <p:nvPicPr>
          <p:cNvPr id="7" name="Picture 6"/>
          <p:cNvPicPr>
            <a:picLocks noChangeAspect="1"/>
          </p:cNvPicPr>
          <p:nvPr/>
        </p:nvPicPr>
        <p:blipFill>
          <a:blip r:embed="rId2"/>
          <a:stretch>
            <a:fillRect/>
          </a:stretch>
        </p:blipFill>
        <p:spPr>
          <a:xfrm>
            <a:off x="1475656" y="555526"/>
            <a:ext cx="6120680" cy="3458955"/>
          </a:xfrm>
          <a:prstGeom prst="rect">
            <a:avLst/>
          </a:prstGeom>
        </p:spPr>
      </p:pic>
    </p:spTree>
    <p:extLst>
      <p:ext uri="{BB962C8B-B14F-4D97-AF65-F5344CB8AC3E}">
        <p14:creationId xmlns:p14="http://schemas.microsoft.com/office/powerpoint/2010/main" val="4229967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23</a:t>
            </a:fld>
            <a:endParaRPr lang="en"/>
          </a:p>
        </p:txBody>
      </p:sp>
      <p:sp>
        <p:nvSpPr>
          <p:cNvPr id="5" name="Rectangle 4"/>
          <p:cNvSpPr/>
          <p:nvPr/>
        </p:nvSpPr>
        <p:spPr>
          <a:xfrm>
            <a:off x="159612" y="843558"/>
            <a:ext cx="8925963" cy="3108543"/>
          </a:xfrm>
          <a:prstGeom prst="rect">
            <a:avLst/>
          </a:prstGeom>
        </p:spPr>
        <p:txBody>
          <a:bodyPr wrap="square">
            <a:spAutoFit/>
          </a:bodyPr>
          <a:lstStyle/>
          <a:p>
            <a:r>
              <a:rPr lang="en-IN" sz="1600" b="1" i="1" dirty="0">
                <a:latin typeface="Calibri" panose="020F0502020204030204" pitchFamily="34" charset="0"/>
                <a:cs typeface="Calibri" panose="020F0502020204030204" pitchFamily="34" charset="0"/>
              </a:rPr>
              <a:t>What is It?</a:t>
            </a:r>
          </a:p>
          <a:p>
            <a:r>
              <a:rPr lang="en-US" sz="1200" dirty="0"/>
              <a:t>A pivot table brings together, simplifies and summarizes information stored in other tables and spreadsheets, stripping this down to the most pertinent insights. They are also used to create </a:t>
            </a:r>
            <a:r>
              <a:rPr lang="en-US" sz="1200" dirty="0" err="1"/>
              <a:t>unweighted</a:t>
            </a:r>
            <a:r>
              <a:rPr lang="en-US" sz="1200" dirty="0"/>
              <a:t> cross tabulations fast.</a:t>
            </a:r>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Visualize?</a:t>
            </a:r>
          </a:p>
          <a:p>
            <a:r>
              <a:rPr lang="en-US" sz="1200" dirty="0"/>
              <a:t>Pivot tables are one of the most simple and useful ways to visualize data. That’s because they allow you to quickly summarize and analyze large amounts of data, and to use additional features such as color formatting and data bars to enhance the visual </a:t>
            </a:r>
            <a:r>
              <a:rPr lang="en-US" sz="1200" dirty="0" err="1"/>
              <a:t>aspe</a:t>
            </a:r>
            <a:endParaRPr lang="en-US" sz="1200" dirty="0"/>
          </a:p>
          <a:p>
            <a:endParaRPr lang="en-IN" sz="1200" i="1" dirty="0">
              <a:latin typeface="Calibri" panose="020F0502020204030204" pitchFamily="34" charset="0"/>
              <a:cs typeface="Calibri" panose="020F0502020204030204" pitchFamily="34" charset="0"/>
            </a:endParaRPr>
          </a:p>
          <a:p>
            <a:r>
              <a:rPr lang="en-IN" sz="1600" b="1" i="1" dirty="0">
                <a:latin typeface="Calibri" panose="020F0502020204030204" pitchFamily="34" charset="0"/>
                <a:cs typeface="Calibri" panose="020F0502020204030204" pitchFamily="34" charset="0"/>
              </a:rPr>
              <a:t>What Does It Measure?</a:t>
            </a:r>
          </a:p>
          <a:p>
            <a:r>
              <a:rPr lang="en-US" sz="1200" dirty="0"/>
              <a:t>Pivot tables are more about simplifying tables than changing it into a graphical representation. That means they are helpful for displaying data with several subcategories in easily digestible ways.</a:t>
            </a:r>
          </a:p>
          <a:p>
            <a:endParaRPr lang="en-IN" sz="1200" i="1" dirty="0">
              <a:latin typeface="Calibri" panose="020F0502020204030204" pitchFamily="34" charset="0"/>
              <a:cs typeface="Calibri" panose="020F0502020204030204" pitchFamily="34" charset="0"/>
            </a:endParaRPr>
          </a:p>
          <a:p>
            <a:r>
              <a:rPr lang="en-US" sz="1600" b="1" i="1" dirty="0">
                <a:latin typeface="Calibri" panose="020F0502020204030204" pitchFamily="34" charset="0"/>
                <a:cs typeface="Calibri" panose="020F0502020204030204" pitchFamily="34" charset="0"/>
              </a:rPr>
              <a:t>What Sources of Data Does It Use?</a:t>
            </a:r>
          </a:p>
          <a:p>
            <a:r>
              <a:rPr lang="en-US" sz="1200" dirty="0">
                <a:latin typeface="Calibri" panose="020F0502020204030204" pitchFamily="34" charset="0"/>
                <a:cs typeface="Calibri" panose="020F0502020204030204" pitchFamily="34" charset="0"/>
              </a:rPr>
              <a:t>A pivot table can use tabular data from various sources such as spreadsheets, databases, or other structured data sources.</a:t>
            </a:r>
            <a:endParaRPr lang="en-IN" sz="1200" dirty="0">
              <a:latin typeface="Calibri" panose="020F0502020204030204" pitchFamily="34" charset="0"/>
              <a:cs typeface="Calibri" panose="020F0502020204030204" pitchFamily="34" charset="0"/>
            </a:endParaRPr>
          </a:p>
        </p:txBody>
      </p:sp>
      <p:sp>
        <p:nvSpPr>
          <p:cNvPr id="6" name="TextBox 5"/>
          <p:cNvSpPr txBox="1"/>
          <p:nvPr/>
        </p:nvSpPr>
        <p:spPr>
          <a:xfrm>
            <a:off x="1979712" y="195486"/>
            <a:ext cx="3024336" cy="523220"/>
          </a:xfrm>
          <a:prstGeom prst="rect">
            <a:avLst/>
          </a:prstGeom>
          <a:noFill/>
        </p:spPr>
        <p:txBody>
          <a:bodyPr wrap="square" rtlCol="0">
            <a:spAutoFit/>
          </a:bodyPr>
          <a:lstStyle/>
          <a:p>
            <a:r>
              <a:rPr lang="en-IN" sz="2800" b="1" i="1" u="sng" dirty="0">
                <a:solidFill>
                  <a:schemeClr val="accent1">
                    <a:lumMod val="60000"/>
                    <a:lumOff val="4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Pivot Table </a:t>
            </a:r>
          </a:p>
        </p:txBody>
      </p:sp>
    </p:spTree>
    <p:extLst>
      <p:ext uri="{BB962C8B-B14F-4D97-AF65-F5344CB8AC3E}">
        <p14:creationId xmlns:p14="http://schemas.microsoft.com/office/powerpoint/2010/main" val="2738915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24</a:t>
            </a:fld>
            <a:endParaRPr lang="e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7574"/>
            <a:ext cx="5119846" cy="280831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2120" y="987574"/>
            <a:ext cx="2751058" cy="2613887"/>
          </a:xfrm>
          <a:prstGeom prst="rect">
            <a:avLst/>
          </a:prstGeom>
        </p:spPr>
      </p:pic>
    </p:spTree>
    <p:extLst>
      <p:ext uri="{BB962C8B-B14F-4D97-AF65-F5344CB8AC3E}">
        <p14:creationId xmlns:p14="http://schemas.microsoft.com/office/powerpoint/2010/main" val="1942011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12C1B4-DC63-6292-C84D-DB600672DF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25</a:t>
            </a:fld>
            <a:endParaRPr lang="en"/>
          </a:p>
        </p:txBody>
      </p:sp>
      <p:sp>
        <p:nvSpPr>
          <p:cNvPr id="4" name="TextBox 3">
            <a:extLst>
              <a:ext uri="{FF2B5EF4-FFF2-40B4-BE49-F238E27FC236}">
                <a16:creationId xmlns:a16="http://schemas.microsoft.com/office/drawing/2014/main" id="{776A3DC5-90C4-0DB4-9DE8-B546F75EB047}"/>
              </a:ext>
            </a:extLst>
          </p:cNvPr>
          <p:cNvSpPr txBox="1"/>
          <p:nvPr/>
        </p:nvSpPr>
        <p:spPr>
          <a:xfrm>
            <a:off x="2266950" y="1898303"/>
            <a:ext cx="4610100" cy="1384995"/>
          </a:xfrm>
          <a:prstGeom prst="rect">
            <a:avLst/>
          </a:prstGeom>
          <a:noFill/>
        </p:spPr>
        <p:txBody>
          <a:bodyPr wrap="square">
            <a:spAutoFit/>
          </a:bodyPr>
          <a:lstStyle/>
          <a:p>
            <a:r>
              <a:rPr lang="en-US" dirty="0"/>
              <a:t>Box plots and whisker plots are great for visualizing the distribution and spread of data. They show the median, quartiles, and outliers, giving you a quick sense of the data's shape. Box plots are especially useful for comparing the distributions of different groups or variables.</a:t>
            </a:r>
          </a:p>
        </p:txBody>
      </p:sp>
      <p:pic>
        <p:nvPicPr>
          <p:cNvPr id="1026" name="Picture 2">
            <a:extLst>
              <a:ext uri="{FF2B5EF4-FFF2-40B4-BE49-F238E27FC236}">
                <a16:creationId xmlns:a16="http://schemas.microsoft.com/office/drawing/2014/main" id="{F045126B-753B-D387-AB85-A0CA8EDCBC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613" y="0"/>
            <a:ext cx="62007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581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5"/>
          <p:cNvSpPr txBox="1">
            <a:spLocks noGrp="1"/>
          </p:cNvSpPr>
          <p:nvPr>
            <p:ph type="ctrTitle" idx="4294967295"/>
          </p:nvPr>
        </p:nvSpPr>
        <p:spPr>
          <a:xfrm>
            <a:off x="1275150" y="1278550"/>
            <a:ext cx="65937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0000"/>
              <a:t>THANKS!</a:t>
            </a:r>
            <a:endParaRPr sz="10000"/>
          </a:p>
        </p:txBody>
      </p:sp>
      <p:sp>
        <p:nvSpPr>
          <p:cNvPr id="720" name="Google Shape;720;p35"/>
          <p:cNvSpPr txBox="1">
            <a:spLocks noGrp="1"/>
          </p:cNvSpPr>
          <p:nvPr>
            <p:ph type="subTitle" idx="4294967295"/>
          </p:nvPr>
        </p:nvSpPr>
        <p:spPr>
          <a:xfrm>
            <a:off x="1275150" y="2325749"/>
            <a:ext cx="6593700" cy="1680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b="1" dirty="0"/>
              <a:t>Any questions?</a:t>
            </a:r>
            <a:endParaRPr sz="3600" b="1" dirty="0"/>
          </a:p>
          <a:p>
            <a:pPr marL="0" lvl="0" indent="0" algn="ctr" rtl="0">
              <a:spcBef>
                <a:spcPts val="600"/>
              </a:spcBef>
              <a:spcAft>
                <a:spcPts val="0"/>
              </a:spcAft>
              <a:buNone/>
            </a:pPr>
            <a:endParaRPr dirty="0"/>
          </a:p>
          <a:p>
            <a:pPr marL="0" lvl="0" indent="0" algn="ctr" rtl="0">
              <a:spcBef>
                <a:spcPts val="600"/>
              </a:spcBef>
              <a:spcAft>
                <a:spcPts val="0"/>
              </a:spcAft>
              <a:buNone/>
            </a:pPr>
            <a:endParaRPr sz="3600" b="1" dirty="0"/>
          </a:p>
        </p:txBody>
      </p:sp>
      <p:sp>
        <p:nvSpPr>
          <p:cNvPr id="721" name="Google Shape;721;p35"/>
          <p:cNvSpPr txBox="1">
            <a:spLocks noGrp="1"/>
          </p:cNvSpPr>
          <p:nvPr>
            <p:ph type="sldNum" idx="12"/>
          </p:nvPr>
        </p:nvSpPr>
        <p:spPr>
          <a:xfrm>
            <a:off x="8556775" y="4826200"/>
            <a:ext cx="548700" cy="31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26</a:t>
            </a:fld>
            <a:endParaRPr/>
          </a:p>
        </p:txBody>
      </p:sp>
    </p:spTree>
  </p:cSld>
  <p:clrMapOvr>
    <a:masterClrMapping/>
  </p:clrMapOvr>
</p:sld>
</file>

<file path=ppt/theme/theme1.xml><?xml version="1.0" encoding="utf-8"?>
<a:theme xmlns:a="http://schemas.openxmlformats.org/drawingml/2006/main" name="Quince template">
  <a:themeElements>
    <a:clrScheme name="Custom 347">
      <a:dk1>
        <a:srgbClr val="28324A"/>
      </a:dk1>
      <a:lt1>
        <a:srgbClr val="FFFFFF"/>
      </a:lt1>
      <a:dk2>
        <a:srgbClr val="707685"/>
      </a:dk2>
      <a:lt2>
        <a:srgbClr val="E5E5E5"/>
      </a:lt2>
      <a:accent1>
        <a:srgbClr val="00CEF6"/>
      </a:accent1>
      <a:accent2>
        <a:srgbClr val="3C78D8"/>
      </a:accent2>
      <a:accent3>
        <a:srgbClr val="00A7C8"/>
      </a:accent3>
      <a:accent4>
        <a:srgbClr val="8EC400"/>
      </a:accent4>
      <a:accent5>
        <a:srgbClr val="AFF000"/>
      </a:accent5>
      <a:accent6>
        <a:srgbClr val="7F7F7F"/>
      </a:accent6>
      <a:hlink>
        <a:srgbClr val="28324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7542</TotalTime>
  <Words>2221</Words>
  <Application>Microsoft Office PowerPoint</Application>
  <PresentationFormat>On-screen Show (16:9)</PresentationFormat>
  <Paragraphs>197</Paragraphs>
  <Slides>26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Gabriola</vt:lpstr>
      <vt:lpstr>Source Sans Pro</vt:lpstr>
      <vt:lpstr>Arial Black</vt:lpstr>
      <vt:lpstr>Oswald</vt:lpstr>
      <vt:lpstr>Arial</vt:lpstr>
      <vt:lpstr>Calibri</vt:lpstr>
      <vt:lpstr>Quince template</vt:lpstr>
      <vt:lpstr>Data Visualization (Plotting)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ASUS</dc:creator>
  <cp:lastModifiedBy>Rashmitha Data</cp:lastModifiedBy>
  <cp:revision>67</cp:revision>
  <dcterms:modified xsi:type="dcterms:W3CDTF">2024-09-19T19:05:55Z</dcterms:modified>
</cp:coreProperties>
</file>